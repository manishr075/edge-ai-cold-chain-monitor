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71600" y="6236208"/>
            <a:ext cx="502919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860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57200"/>
            <a:ext cx="1920240" cy="365760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9496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SMART INDIA HACKATHON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234440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000" b="1" i="0">
                <a:solidFill>
                  <a:srgbClr val="67E8F9"/>
                </a:solidFill>
                <a:latin typeface="Noto Sans"/>
              </a:rPr>
              <a:t>EDGE-AI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737360"/>
            <a:ext cx="7498079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Noto Sans"/>
              </a:rPr>
              <a:t>PREDICTIVE COLD CHAIN
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35808"/>
            <a:ext cx="7406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Noto Sans"/>
              </a:rPr>
              <a:t>FreeRTOS-enabled hyper-local monitoring with on-device predictive 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30752"/>
            <a:ext cx="74980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377190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ESP32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730752"/>
            <a:ext cx="804672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1328" y="3771900"/>
            <a:ext cx="6766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SHT30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13432" y="3730752"/>
            <a:ext cx="129844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39" y="3771900"/>
            <a:ext cx="1170431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Noto Sans"/>
              </a:rPr>
              <a:t>Decision Tree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2463" y="3730752"/>
            <a:ext cx="960120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6472" y="3771900"/>
            <a:ext cx="8321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  <a:latin typeface="Noto Sans"/>
              </a:rPr>
              <a:t>FreeRTOS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73168" y="3730752"/>
            <a:ext cx="148132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3771900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Noto Sans"/>
              </a:rPr>
              <a:t>ThingSpeak HTTPS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1243584"/>
            <a:ext cx="3520440" cy="42976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572768"/>
            <a:ext cx="2926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 i="0">
                <a:solidFill>
                  <a:srgbClr val="67E8F9"/>
                </a:solidFill>
                <a:latin typeface="Noto Sans"/>
              </a:rPr>
              <a:t>SENSE → PREDICT → 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2011680"/>
            <a:ext cx="1152144" cy="7315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2295144"/>
            <a:ext cx="10607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Noto Sans"/>
              </a:rPr>
              <a:t>SHT30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68128" y="2011680"/>
            <a:ext cx="1152144" cy="7315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3848" y="2295144"/>
            <a:ext cx="10607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Noto Sans"/>
              </a:rPr>
              <a:t>ESP32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7" y="3474720"/>
            <a:ext cx="1152144" cy="7315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3758184"/>
            <a:ext cx="10607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Noto Sans"/>
              </a:rPr>
              <a:t>ML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400032" y="2377440"/>
            <a:ext cx="749808" cy="0"/>
          </a:xfrm>
          <a:prstGeom prst="line">
            <a:avLst/>
          </a:prstGeom>
          <a:ln w="3048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966960" y="2761488"/>
            <a:ext cx="777240" cy="667512"/>
          </a:xfrm>
          <a:prstGeom prst="line">
            <a:avLst/>
          </a:prstGeom>
          <a:ln w="3048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842248" y="4343400"/>
            <a:ext cx="685800" cy="594360"/>
          </a:xfrm>
          <a:prstGeom prst="line">
            <a:avLst/>
          </a:prstGeom>
          <a:ln w="304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30768" y="4818888"/>
            <a:ext cx="2724912" cy="43891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919472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Noto Sans"/>
              </a:rPr>
              <a:t>early warning + 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916168"/>
            <a:ext cx="6949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64748B"/>
                </a:solidFill>
                <a:latin typeface="Noto Sans"/>
              </a:rPr>
              <a:t>SIH26215  ·  Theme: MedTech  ·  Hardware  ·  Team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199632"/>
            <a:ext cx="5760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94A3B8"/>
                </a:solidFill>
                <a:latin typeface="Noto Sans"/>
              </a:rPr>
              <a:t>IMPACT INNOVATORS · RV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01 ·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Cold-chain failures are often detected after the damage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project shifts monitoring from reactive thresholds to local prediction and resilient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440680" cy="437083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93392"/>
            <a:ext cx="1097280" cy="310896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34540"/>
            <a:ext cx="96926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07111F"/>
                </a:solidFill>
                <a:latin typeface="Noto San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96312"/>
            <a:ext cx="48006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Noto Sans"/>
              </a:rPr>
              <a:t>Temperature-sensitive healthcare products can leave the 2–8°C band during last-mile movement.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456432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383280"/>
            <a:ext cx="44439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Noto Sans"/>
              </a:rPr>
              <a:t>A threshold alarm tells the operator that a breach is happening — not how soon it will happen.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0233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50208"/>
            <a:ext cx="44439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Noto Sans"/>
              </a:rPr>
              <a:t>Connectivity interruptions can break continuous remote visibility.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5902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517136"/>
            <a:ext cx="44439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Noto Sans"/>
              </a:rPr>
              <a:t>Irregular sampling cadence can make a trained time-series model misleading if deployed naively.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15721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5084064"/>
            <a:ext cx="44439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Noto Sans"/>
              </a:rPr>
              <a:t>A low-cost field device needs local computation, buffering and recovery — not cloud-only intelligence.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1783080"/>
            <a:ext cx="5532120" cy="437083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64224" y="1993392"/>
            <a:ext cx="1207008" cy="31089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034540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07111F"/>
                </a:solidFill>
                <a:latin typeface="Noto Sans"/>
              </a:rPr>
              <a:t>DESIGN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560320"/>
            <a:ext cx="21762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Noto Sans"/>
              </a:rPr>
              <a:t>Reactive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2523744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000" b="1" i="0">
                <a:solidFill>
                  <a:srgbClr val="67E8F9"/>
                </a:solidFill>
                <a:latin typeface="Noto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560320"/>
            <a:ext cx="21488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Noto Sans"/>
              </a:rPr>
              <a:t>Predictive edge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3108960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3172968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22D3EE"/>
                </a:solidFill>
                <a:latin typeface="Noto Sans"/>
              </a:rPr>
              <a:t>SENSE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3154679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2-second local sensing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3630168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3694176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A78BFA"/>
                </a:solidFill>
                <a:latin typeface="Noto Sans"/>
              </a:rP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675887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rules + thermal models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4151376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4215384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34D399"/>
                </a:solidFill>
                <a:latin typeface="Noto Sans"/>
              </a:rPr>
              <a:t>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197096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Decision Tree on ESP32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0528" y="4672583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4736592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F59E0B"/>
                </a:solidFill>
                <a:latin typeface="Noto Sans"/>
              </a:rPr>
              <a:t>BUFFER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4718303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LittleFS during outages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0528" y="5193792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5257800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22D3EE"/>
                </a:solidFill>
                <a:latin typeface="Noto Sans"/>
              </a:rPr>
              <a:t>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5239512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ThingSpeak REST/HTTPS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02 ·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One device, two cadences, one resilient data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Fast safety logic runs continuously; the trained ML model runs on the cadence it was trained for.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22D3EE"/>
                </a:solidFill>
                <a:latin typeface="Noto Sans"/>
              </a:rPr>
              <a:t>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SHT30
+ GPS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852928"/>
            <a:ext cx="448056" cy="0"/>
          </a:xfrm>
          <a:prstGeom prst="line">
            <a:avLst/>
          </a:prstGeom>
          <a:ln w="3048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61488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FB7185"/>
                </a:solidFill>
                <a:latin typeface="Noto Sans"/>
              </a:rPr>
              <a:t>FAST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2 s
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07408" y="2852928"/>
            <a:ext cx="466344" cy="0"/>
          </a:xfrm>
          <a:prstGeom prst="line">
            <a:avLst/>
          </a:prstGeom>
          <a:ln w="3048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46904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Noto Sans"/>
              </a:rPr>
              <a:t>ML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10 min
buckets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92824" y="2852928"/>
            <a:ext cx="484632" cy="0"/>
          </a:xfrm>
          <a:prstGeom prst="line">
            <a:avLst/>
          </a:prstGeom>
          <a:ln w="3048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50608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0336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  <a:latin typeface="Noto Sans"/>
              </a:rPr>
              <a:t>LOCAL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alert +
risk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6528" y="2852928"/>
            <a:ext cx="484632" cy="0"/>
          </a:xfrm>
          <a:prstGeom prst="line">
            <a:avLst/>
          </a:prstGeom>
          <a:ln w="304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54312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Noto Sans"/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ThingSpeak
REST/HTTPS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886200"/>
            <a:ext cx="4050791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33088" y="3927348"/>
            <a:ext cx="392277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 i="0">
                <a:solidFill>
                  <a:srgbClr val="67E8F9"/>
                </a:solidFill>
                <a:latin typeface="Noto Sans"/>
              </a:rPr>
              <a:t>IMPORTANT: 2 s sensing ≠ 10 min ML 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62272"/>
            <a:ext cx="11000232" cy="137160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654296"/>
            <a:ext cx="14813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A78BFA"/>
                </a:solidFill>
                <a:latin typeface="Noto Sans"/>
              </a:rPr>
              <a:t>FREE_RTOS TASKING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" y="4663440"/>
            <a:ext cx="2816352" cy="84124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95728" y="4791456"/>
            <a:ext cx="2487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Noto Sans"/>
              </a:rPr>
              <a:t>SensorTask  ·  Core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5074920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Noto Sans"/>
              </a:rPr>
              <a:t>SHT30/GPS → feature windows →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4773168"/>
            <a:ext cx="932688" cy="59436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4919472"/>
            <a:ext cx="731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80" b="1" i="0">
                <a:solidFill>
                  <a:srgbClr val="67E8F9"/>
                </a:solidFill>
                <a:latin typeface="Noto Sans"/>
              </a:rPr>
              <a:t>QUEUE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47488" y="5074920"/>
            <a:ext cx="192024" cy="0"/>
          </a:xfrm>
          <a:prstGeom prst="line">
            <a:avLst/>
          </a:prstGeom>
          <a:ln w="3048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08776" y="5074920"/>
            <a:ext cx="210312" cy="0"/>
          </a:xfrm>
          <a:prstGeom prst="line">
            <a:avLst/>
          </a:prstGeom>
          <a:ln w="3048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37376" y="4663440"/>
            <a:ext cx="2889504" cy="84124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791456"/>
            <a:ext cx="2596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Noto Sans"/>
              </a:rPr>
              <a:t>CloudTask  ·  Core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74920"/>
            <a:ext cx="2596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Noto Sans"/>
              </a:rPr>
              <a:t>ThingSpeak pacing + LittleFS backlog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19488" y="4663440"/>
            <a:ext cx="1490472" cy="84124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38944" y="4855464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Noto Sans"/>
              </a:rPr>
              <a:t>Mutex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5111496"/>
            <a:ext cx="11704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19" b="0" i="0">
                <a:solidFill>
                  <a:srgbClr val="94A3B8"/>
                </a:solidFill>
                <a:latin typeface="Noto Sans"/>
              </a:rPr>
              <a:t>sync metadata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03 · HARDWARE &amp;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Built from low-cost, commonly available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MVP uses a practical sensor + MCU + cloud stack while keeping intelligence at the 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92224"/>
            <a:ext cx="2551176" cy="13533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8096" y="2029968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984248"/>
            <a:ext cx="16916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Noto Sans"/>
              </a:rPr>
              <a:t>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276856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Noto Sans"/>
              </a:rPr>
              <a:t>MCU + Wi-Fi
FreeRTOS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792224"/>
            <a:ext cx="2551176" cy="13533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21024" y="2029968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1376" y="1984248"/>
            <a:ext cx="16916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Noto Sans"/>
              </a:rPr>
              <a:t>SHT30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2276856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Noto Sans"/>
              </a:rPr>
              <a:t>Temp + humidity
I²C / 2 s reads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92224"/>
            <a:ext cx="2551176" cy="13533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952" y="2029968"/>
            <a:ext cx="420624" cy="42062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4" y="1984248"/>
            <a:ext cx="16916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Noto Sans"/>
              </a:rPr>
              <a:t>NEO-6M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276856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Noto Sans"/>
              </a:rPr>
              <a:t>GPS context
UART / freshness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62288" y="1792224"/>
            <a:ext cx="2551176" cy="13533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202996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1984248"/>
            <a:ext cx="16916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Noto Sans"/>
              </a:rPr>
              <a:t>LittleFS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2276856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Noto Sans"/>
              </a:rPr>
              <a:t>Persistent offline
telemetry backlog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3401568"/>
            <a:ext cx="5303520" cy="2340864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" y="3602736"/>
            <a:ext cx="713232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4388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WIRING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160520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 i="0">
                <a:solidFill>
                  <a:srgbClr val="94A3B8"/>
                </a:solidFill>
                <a:latin typeface="Noto Sans"/>
              </a:rPr>
              <a:t>SDA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38912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Noto Sans"/>
              </a:rPr>
              <a:t>GPIO 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818888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 i="0">
                <a:solidFill>
                  <a:srgbClr val="94A3B8"/>
                </a:solidFill>
                <a:latin typeface="Noto Sans"/>
              </a:rPr>
              <a:t>SCL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047488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Noto Sans"/>
              </a:rPr>
              <a:t>GPIO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4160520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 i="0">
                <a:solidFill>
                  <a:srgbClr val="94A3B8"/>
                </a:solidFill>
                <a:latin typeface="Noto Sans"/>
              </a:rPr>
              <a:t>GPS RX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438912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Noto Sans"/>
              </a:rPr>
              <a:t>GPIO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4818888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 i="0">
                <a:solidFill>
                  <a:srgbClr val="94A3B8"/>
                </a:solidFill>
                <a:latin typeface="Noto Sans"/>
              </a:rPr>
              <a:t>GPS 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79" y="5047488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Noto Sans"/>
              </a:rPr>
              <a:t>GPIO 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35624" y="3401568"/>
            <a:ext cx="5449824" cy="2340864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45936" y="3602736"/>
            <a:ext cx="1307592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3643884"/>
            <a:ext cx="117957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  <a:latin typeface="Noto Sans"/>
              </a:rPr>
              <a:t>FIRMWARE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4114800"/>
            <a:ext cx="14081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8FAFC"/>
                </a:solidFill>
                <a:latin typeface="Noto Sans"/>
              </a:rPr>
              <a:t>Sensor task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08975" y="4114800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sampling + feature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4498848"/>
            <a:ext cx="14081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8FAFC"/>
                </a:solidFill>
                <a:latin typeface="Noto Sans"/>
              </a:rPr>
              <a:t>Decision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8975" y="4498848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heat/freeze latch + thermal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4882896"/>
            <a:ext cx="14081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8FAFC"/>
                </a:solidFill>
                <a:latin typeface="Noto Sans"/>
              </a:rPr>
              <a:t>ML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8975" y="4882896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embedded Decision Tree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5266944"/>
            <a:ext cx="14081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8FAFC"/>
                </a:solidFill>
                <a:latin typeface="Noto Sans"/>
              </a:rPr>
              <a:t>Cloud 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8975" y="5266944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15 s ThingSpeak + offline backlog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04 · WHERE THE AI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The learned model runs on the ESP32 — not in the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cloud is telemetry. The trained Decision Tree is embedded into firmware for local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A78BFA"/>
                </a:solidFill>
                <a:latin typeface="Noto Sans"/>
              </a:rPr>
              <a:t>TRAIN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Historical thermal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51176" y="2578608"/>
            <a:ext cx="27432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22D3EE"/>
                </a:solidFill>
                <a:latin typeface="Noto Sans"/>
              </a:rPr>
              <a:t>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C/C++ tree header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37176" y="2578608"/>
            <a:ext cx="27432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34D399"/>
                </a:solidFill>
                <a:latin typeface="Noto Sans"/>
              </a:rPr>
              <a:t>ADAPT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10-min bucket cadence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23176" y="2578608"/>
            <a:ext cx="27432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F59E0B"/>
                </a:solidFill>
                <a:latin typeface="Noto Sans"/>
              </a:rPr>
              <a:t>INFER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8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ESP32 Decision Tree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09176" y="2578608"/>
            <a:ext cx="27432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38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FB7185"/>
                </a:solidFill>
                <a:latin typeface="Noto Sans"/>
              </a:rPr>
              <a:t>WARN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2 positive windows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685032"/>
            <a:ext cx="7360920" cy="199339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3895344"/>
            <a:ext cx="1005840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36491"/>
            <a:ext cx="87782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Noto Sans"/>
              </a:rPr>
              <a:t>10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61688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temperature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4361688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5-sample mean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54296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5-sample std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654296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5-sample slope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946903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10-min delta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4946903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20-min delta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5239512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rising fraction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5239512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distance to 8°C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5532120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count above 6°C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5532120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slope acceleration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74736" y="3685032"/>
            <a:ext cx="3410712" cy="199339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85048" y="3895344"/>
            <a:ext cx="1261872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3936491"/>
            <a:ext cx="1133855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Noto Sans"/>
              </a:rPr>
              <a:t>MODEL CONTRACT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4389120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0" b="1" i="0">
                <a:solidFill>
                  <a:srgbClr val="94A3B8"/>
                </a:solidFill>
                <a:latin typeface="Noto Sans"/>
              </a:rPr>
              <a:t>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4379976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 i="0">
                <a:solidFill>
                  <a:srgbClr val="F59E0B"/>
                </a:solidFill>
                <a:latin typeface="Noto Sans"/>
              </a:rPr>
              <a:t>0.85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4736592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0" b="1" i="0">
                <a:solidFill>
                  <a:srgbClr val="94A3B8"/>
                </a:solidFill>
                <a:latin typeface="Noto Sans"/>
              </a:rPr>
              <a:t>Persistence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4727448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 i="0">
                <a:solidFill>
                  <a:srgbClr val="F59E0B"/>
                </a:solidFill>
                <a:latin typeface="Noto Sans"/>
              </a:rPr>
              <a:t>2 windows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5084064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0" b="1" i="0">
                <a:solidFill>
                  <a:srgbClr val="94A3B8"/>
                </a:solidFill>
                <a:latin typeface="Noto Sans"/>
              </a:rPr>
              <a:t>Domain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5074920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0" b="1" i="0">
                <a:solidFill>
                  <a:srgbClr val="F8FAFC"/>
                </a:solidFill>
                <a:latin typeface="Noto Sans"/>
              </a:rPr>
              <a:t>current bucket &lt; 8°C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048" y="5422392"/>
            <a:ext cx="2834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0" i="0">
                <a:solidFill>
                  <a:srgbClr val="94A3B8"/>
                </a:solidFill>
                <a:latin typeface="Noto Sans"/>
              </a:rPr>
              <a:t>Minimum bucket coverage: 80% · five valid buckets before first inference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05 · HYBRID EDGE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ML is only one layer — the system combines learned, deterministic and thermal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Each layer answers a different operational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01952"/>
            <a:ext cx="3456432" cy="34015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112264"/>
            <a:ext cx="1426464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53412"/>
            <a:ext cx="12984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19" b="1" i="0">
                <a:solidFill>
                  <a:srgbClr val="FB7185"/>
                </a:solidFill>
                <a:latin typeface="Noto Sans"/>
              </a:rPr>
              <a:t>FAST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63347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1" i="0">
                <a:solidFill>
                  <a:srgbClr val="F8FAFC"/>
                </a:solidFill>
                <a:latin typeface="Noto Sans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10896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Is the product already outside the safe band?</a:t>
            </a:r>
          </a:p>
        </p:txBody>
      </p:sp>
      <p:sp>
        <p:nvSpPr>
          <p:cNvPr id="10" name="Oval 9"/>
          <p:cNvSpPr/>
          <p:nvPr/>
        </p:nvSpPr>
        <p:spPr>
          <a:xfrm>
            <a:off x="832104" y="3776472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703320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2 s sampling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" y="4215383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4142231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heat/freeze latch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" y="4654296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581144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persistence filter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1901952"/>
            <a:ext cx="3456432" cy="34015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112264"/>
            <a:ext cx="120700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153412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19" b="1" i="0">
                <a:solidFill>
                  <a:srgbClr val="34D399"/>
                </a:solidFill>
                <a:latin typeface="Noto Sans"/>
              </a:rPr>
              <a:t>EDGE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63347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1" i="0">
                <a:solidFill>
                  <a:srgbClr val="F8FAFC"/>
                </a:solidFill>
                <a:latin typeface="Noto Sans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10896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Is the trajectory likely to cross 8°C soon?</a:t>
            </a:r>
          </a:p>
        </p:txBody>
      </p:sp>
      <p:sp>
        <p:nvSpPr>
          <p:cNvPr id="21" name="Oval 20"/>
          <p:cNvSpPr/>
          <p:nvPr/>
        </p:nvSpPr>
        <p:spPr>
          <a:xfrm>
            <a:off x="4645152" y="377647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703320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10 min windows</a:t>
            </a:r>
          </a:p>
        </p:txBody>
      </p:sp>
      <p:sp>
        <p:nvSpPr>
          <p:cNvPr id="23" name="Oval 22"/>
          <p:cNvSpPr/>
          <p:nvPr/>
        </p:nvSpPr>
        <p:spPr>
          <a:xfrm>
            <a:off x="4645152" y="4215383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142231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Decision Tree</a:t>
            </a:r>
          </a:p>
        </p:txBody>
      </p:sp>
      <p:sp>
        <p:nvSpPr>
          <p:cNvPr id="25" name="Oval 24"/>
          <p:cNvSpPr/>
          <p:nvPr/>
        </p:nvSpPr>
        <p:spPr>
          <a:xfrm>
            <a:off x="4645152" y="465429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581144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local predictive alert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901952"/>
            <a:ext cx="3456432" cy="34015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30768" y="2112264"/>
            <a:ext cx="1426464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2153412"/>
            <a:ext cx="12984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19" b="1" i="0">
                <a:solidFill>
                  <a:srgbClr val="A78BFA"/>
                </a:solidFill>
                <a:latin typeface="Noto Sans"/>
              </a:rPr>
              <a:t>THERMAL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63347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1" i="0">
                <a:solidFill>
                  <a:srgbClr val="F8FAFC"/>
                </a:solidFill>
                <a:latin typeface="Noto Sans"/>
              </a:rP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10896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How quickly is the condition changing / accumulating exposure?</a:t>
            </a:r>
          </a:p>
        </p:txBody>
      </p:sp>
      <p:sp>
        <p:nvSpPr>
          <p:cNvPr id="32" name="Oval 31"/>
          <p:cNvSpPr/>
          <p:nvPr/>
        </p:nvSpPr>
        <p:spPr>
          <a:xfrm>
            <a:off x="8458200" y="377647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3703320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Newton cooling</a:t>
            </a:r>
          </a:p>
        </p:txBody>
      </p:sp>
      <p:sp>
        <p:nvSpPr>
          <p:cNvPr id="34" name="Oval 33"/>
          <p:cNvSpPr/>
          <p:nvPr/>
        </p:nvSpPr>
        <p:spPr>
          <a:xfrm>
            <a:off x="8458200" y="4215383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8" y="4142231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Arrhenius exposure</a:t>
            </a:r>
          </a:p>
        </p:txBody>
      </p:sp>
      <p:sp>
        <p:nvSpPr>
          <p:cNvPr id="36" name="Oval 35"/>
          <p:cNvSpPr/>
          <p:nvPr/>
        </p:nvSpPr>
        <p:spPr>
          <a:xfrm>
            <a:off x="8458200" y="4654296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9368" y="4581144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risk 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89888" y="5632704"/>
            <a:ext cx="9418320" cy="43891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5733288"/>
            <a:ext cx="90342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80" b="1" i="0">
                <a:solidFill>
                  <a:srgbClr val="F8FAFC"/>
                </a:solidFill>
                <a:latin typeface="Noto Sans"/>
              </a:rPr>
              <a:t>Operational principle: keep critical detection local so connectivity is not on the critical path for prediction.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06 · MODEL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Primary frozen holdout: reproducible evidence, not field-accuracy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Historical Nepal thermal data were split by source file so entire files were held out from model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28800"/>
            <a:ext cx="2121408" cy="157276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93392"/>
            <a:ext cx="179222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 i="0">
                <a:solidFill>
                  <a:srgbClr val="22D3EE"/>
                </a:solidFill>
                <a:latin typeface="Noto Sans"/>
              </a:rPr>
              <a:t>66.3%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3288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81635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 i="0">
                <a:solidFill>
                  <a:srgbClr val="94A3B8"/>
                </a:solidFill>
                <a:latin typeface="Noto Sans"/>
              </a:rPr>
              <a:t>How often a positive warning was correct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1828800"/>
            <a:ext cx="2121408" cy="157276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993392"/>
            <a:ext cx="179222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 i="0">
                <a:solidFill>
                  <a:srgbClr val="34D399"/>
                </a:solidFill>
                <a:latin typeface="Noto Sans"/>
              </a:rPr>
              <a:t>68.1%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3288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1635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 i="0">
                <a:solidFill>
                  <a:srgbClr val="94A3B8"/>
                </a:solidFill>
                <a:latin typeface="Noto Sans"/>
              </a:rPr>
              <a:t>Share of target positives detected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828800"/>
            <a:ext cx="2121408" cy="157276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993392"/>
            <a:ext cx="179222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 i="0">
                <a:solidFill>
                  <a:srgbClr val="A78BFA"/>
                </a:solidFill>
                <a:latin typeface="Noto Sans"/>
              </a:rPr>
              <a:t>67.2%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53288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81635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 i="0">
                <a:solidFill>
                  <a:srgbClr val="94A3B8"/>
                </a:solidFill>
                <a:latin typeface="Noto Sans"/>
              </a:rPr>
              <a:t>Balance of precision and recall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828800"/>
            <a:ext cx="2121408" cy="157276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1993392"/>
            <a:ext cx="179222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 i="0">
                <a:solidFill>
                  <a:srgbClr val="F59E0B"/>
                </a:solidFill>
                <a:latin typeface="Noto Sans"/>
              </a:rPr>
              <a:t>0.907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53288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81635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 i="0">
                <a:solidFill>
                  <a:srgbClr val="94A3B8"/>
                </a:solidFill>
                <a:latin typeface="Noto Sans"/>
              </a:rPr>
              <a:t>Ranking quality across thresholds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828800"/>
            <a:ext cx="1938528" cy="15727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2039112"/>
            <a:ext cx="1554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80" b="1" i="0">
                <a:solidFill>
                  <a:srgbClr val="67E8F9"/>
                </a:solidFill>
                <a:latin typeface="Noto Sans"/>
              </a:rPr>
              <a:t>HOLDOUT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395728"/>
            <a:ext cx="151790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100" b="1" i="0">
                <a:solidFill>
                  <a:srgbClr val="F8FAFC"/>
                </a:solidFill>
                <a:latin typeface="Noto Sans"/>
              </a:rPr>
              <a:t>6,110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788920"/>
            <a:ext cx="1463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Noto Sans"/>
              </a:rPr>
              <a:t>rows
12 source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703320"/>
            <a:ext cx="5102352" cy="221284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" y="3904487"/>
            <a:ext cx="1682496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945635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FROZEN CONFUSION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414223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69" b="0" i="0">
                <a:solidFill>
                  <a:srgbClr val="94A3B8"/>
                </a:solidFill>
                <a:latin typeface="Noto Sans"/>
              </a:rPr>
              <a:t>Predicted 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9424" y="414223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69" b="0" i="0">
                <a:solidFill>
                  <a:srgbClr val="94A3B8"/>
                </a:solidFill>
                <a:latin typeface="Noto Sans"/>
              </a:rPr>
              <a:t>Predicted 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617720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Noto Sans"/>
              </a:rPr>
              <a:t>Actual 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276088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Noto Sans"/>
              </a:rPr>
              <a:t>Actual 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75104" y="4526280"/>
            <a:ext cx="950976" cy="45720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0824" y="4590288"/>
            <a:ext cx="8595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Noto Sans"/>
              </a:rPr>
              <a:t>175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0824" y="477316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Noto Sans"/>
              </a:rPr>
              <a:t>TP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4952" y="4526280"/>
            <a:ext cx="950976" cy="45720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0672" y="4590288"/>
            <a:ext cx="8595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FB7185"/>
                </a:solidFill>
                <a:latin typeface="Noto Sans"/>
              </a:rPr>
              <a:t>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0672" y="477316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Noto Sans"/>
              </a:rPr>
              <a:t>FN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75104" y="5166360"/>
            <a:ext cx="950976" cy="45720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5230368"/>
            <a:ext cx="8595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Noto Sans"/>
              </a:rPr>
              <a:t>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0824" y="541324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Noto Sans"/>
              </a:rPr>
              <a:t>FP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44952" y="5166360"/>
            <a:ext cx="950976" cy="45720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90672" y="5230368"/>
            <a:ext cx="8595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Noto Sans"/>
              </a:rPr>
              <a:t>5,764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541324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Noto Sans"/>
              </a:rPr>
              <a:t>TN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477316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Noto Sans"/>
              </a:rPr>
              <a:t>Threshold: 0.85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07024" y="3703320"/>
            <a:ext cx="5650992" cy="221284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44768" y="3904487"/>
            <a:ext cx="148132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08776" y="3945635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Noto Sans"/>
              </a:rPr>
              <a:t>WHAT THE NUMBERS MEAN</a:t>
            </a:r>
          </a:p>
        </p:txBody>
      </p:sp>
      <p:sp>
        <p:nvSpPr>
          <p:cNvPr id="48" name="Oval 47"/>
          <p:cNvSpPr/>
          <p:nvPr/>
        </p:nvSpPr>
        <p:spPr>
          <a:xfrm>
            <a:off x="6163056" y="448056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4407408"/>
            <a:ext cx="45902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90" b="0" i="0">
                <a:solidFill>
                  <a:srgbClr val="F8FAFC"/>
                </a:solidFill>
                <a:latin typeface="Noto Sans"/>
              </a:rPr>
              <a:t>Validation source: historical Nepal thermal data.</a:t>
            </a:r>
          </a:p>
        </p:txBody>
      </p:sp>
      <p:sp>
        <p:nvSpPr>
          <p:cNvPr id="50" name="Oval 49"/>
          <p:cNvSpPr/>
          <p:nvPr/>
        </p:nvSpPr>
        <p:spPr>
          <a:xfrm>
            <a:off x="6163056" y="48737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4800600"/>
            <a:ext cx="459028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90" b="0" i="0">
                <a:solidFill>
                  <a:srgbClr val="F8FAFC"/>
                </a:solidFill>
                <a:latin typeface="Noto Sans"/>
              </a:rPr>
              <a:t>Source-file holdout: 48 development files + 12 completely held-out files.</a:t>
            </a:r>
          </a:p>
        </p:txBody>
      </p:sp>
      <p:sp>
        <p:nvSpPr>
          <p:cNvPr id="52" name="Oval 51"/>
          <p:cNvSpPr/>
          <p:nvPr/>
        </p:nvSpPr>
        <p:spPr>
          <a:xfrm>
            <a:off x="6163056" y="534009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5266944"/>
            <a:ext cx="459028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90" b="0" i="0">
                <a:solidFill>
                  <a:srgbClr val="F8FAFC"/>
                </a:solidFill>
                <a:latin typeface="Noto Sans"/>
              </a:rPr>
              <a:t>These metrics do not represent Bengaluru field accuracy or the final physical ThingSpeak/ML runtime.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07 · RELIABILITY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Designed for real field constraints: connectivity loss, cadence gaps and secure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final software release hardens the path between sensing and cloud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83664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075688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Offline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14016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Noto Sans"/>
              </a:rPr>
              <a:t>LittleFS backlog
rate-limited replay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883664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075688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Secure cloud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414016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Noto Sans"/>
              </a:rPr>
              <a:t>HTTPS +
DigiCert root 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83664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75688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Cadence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14016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Noto Sans"/>
              </a:rPr>
              <a:t>80% coverage
5 valid buckets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3456432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648456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False-alarm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986784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Noto Sans"/>
              </a:rPr>
              <a:t>2-window
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456432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648456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Sensor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986784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Noto Sans"/>
              </a:rPr>
              <a:t>re-init after
5 failures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456432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648456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GPS freshness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86784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Noto Sans"/>
              </a:rPr>
              <a:t>120 s age
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5212080"/>
            <a:ext cx="10972800" cy="61264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8581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19" b="1" i="0">
                <a:solidFill>
                  <a:srgbClr val="F59E0B"/>
                </a:solidFill>
                <a:latin typeface="Noto Sans"/>
              </a:rPr>
              <a:t>Important limitation: offline buffering protects telemetry data, but not real-time remote alerting while the network is disconnected.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08 · CURRENT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What is verified, what is software-ready, and what still needs the physical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This slide is intentionally explicit about evidence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10512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01952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ESP32 + SHT30 sensing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883664"/>
            <a:ext cx="987552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7488" y="1924812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11095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377440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68880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Wi-Fi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450592"/>
            <a:ext cx="987552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491740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78024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2944368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035808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Final secure v8.3.1 firmware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017520"/>
            <a:ext cx="987552" cy="31089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3058668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44951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Static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511296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602736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ThingSpeak physical publish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3584448"/>
            <a:ext cx="987552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625596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611879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Bench 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4078224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169663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Physical ML runtime in 2–8°C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151376"/>
            <a:ext cx="987552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192524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178808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~50–60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4645152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736592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GPS satellite fix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718304"/>
            <a:ext cx="987552" cy="310896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7488" y="4759452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DEFERRED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745736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Time-boxed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62672" y="1810512"/>
            <a:ext cx="3922776" cy="34107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82127" y="2029968"/>
            <a:ext cx="1417320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46136" y="2071116"/>
            <a:ext cx="1289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Noto Sans"/>
              </a:rPr>
              <a:t>NEXT BENCH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96896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oto San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596896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Noto Sans"/>
              </a:rPr>
              <a:t>Create ThingSpeak channel + enter credentials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8704" y="3200400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oto San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20040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Noto Sans"/>
              </a:rPr>
              <a:t>Upload v8.3.1 and verify a positive entry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3803904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oto San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803904"/>
            <a:ext cx="2880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Noto Sans"/>
              </a:rPr>
              <a:t>Run in 2–8°C for ~50–60 min to observe physical ML 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8704" y="4599432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oto San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599432"/>
            <a:ext cx="288036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Noto Sans"/>
              </a:rPr>
              <a:t>Capture ml_data_quality, probability, prediction + model version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5477256"/>
            <a:ext cx="6784848" cy="62179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5660136"/>
            <a:ext cx="11704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B7185"/>
                </a:solidFill>
                <a:latin typeface="Noto Sans"/>
              </a:rPr>
              <a:t>NOT CLAIMED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38528" y="5641848"/>
            <a:ext cx="51663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  <a:latin typeface="Noto Sans"/>
              </a:rPr>
              <a:t>Bengaluru field accuracy · battery-life measurement · remote alerts during disconnection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355080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/>
              <a:t>v8.3.1 hardening: first-bucket guard · post-attempt cloud pacing · stream-safe LittleFS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09 · IMPACT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From validated software to a field-ready cold-chain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next step is not more complexity — it is physical validation in a controlled 2–8°C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28800"/>
            <a:ext cx="5257800" cy="327355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039112"/>
            <a:ext cx="713232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0260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07111F"/>
                </a:solidFill>
                <a:latin typeface="Noto Sans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87752"/>
            <a:ext cx="1051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  <a:latin typeface="Noto Sans"/>
              </a:rP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587752"/>
            <a:ext cx="3538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Noto Sans"/>
              </a:rPr>
              <a:t>Earlier intervention before a breach; reduced exposure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91840"/>
            <a:ext cx="1051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22D3EE"/>
                </a:solidFill>
                <a:latin typeface="Noto Sans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3291840"/>
            <a:ext cx="3538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Noto Sans"/>
              </a:rPr>
              <a:t>Central telemetry + local prediction + traceable backlog.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95928"/>
            <a:ext cx="1051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Noto Sans"/>
              </a:rPr>
              <a:t>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995928"/>
            <a:ext cx="3538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Noto Sans"/>
              </a:rPr>
              <a:t>Low-cost edge hardware designed for scalable fleet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828800"/>
            <a:ext cx="5486400" cy="327355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2039112"/>
            <a:ext cx="822960" cy="31089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080260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07111F"/>
                </a:solidFill>
                <a:latin typeface="Noto Sans"/>
              </a:rPr>
              <a:t>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578608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34D399"/>
                </a:solidFill>
                <a:latin typeface="Noto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578608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Software/model holdout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4" y="257860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34D399"/>
                </a:solidFill>
                <a:latin typeface="Noto Sans"/>
              </a:rP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063239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34D399"/>
                </a:solidFill>
                <a:latin typeface="Noto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3063239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ESP32 + SHT30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4704" y="3063239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34D399"/>
                </a:solidFill>
                <a:latin typeface="Noto Sans"/>
              </a:rP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547872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22D3EE"/>
                </a:solidFill>
                <a:latin typeface="Not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3547872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Secure ThingSpeak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4" y="3547872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22D3EE"/>
                </a:solidFill>
                <a:latin typeface="Noto Sans"/>
              </a:rPr>
              <a:t>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4032504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59E0B"/>
                </a:solidFill>
                <a:latin typeface="Noto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4032504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Physical ML runtime 2–8°C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04704" y="4032504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F59E0B"/>
                </a:solidFill>
                <a:latin typeface="Noto Sans"/>
              </a:rPr>
              <a:t>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517136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94A3B8"/>
                </a:solidFill>
                <a:latin typeface="Noto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4517136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Field thermal validation + GPS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4" y="4517136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94A3B8"/>
                </a:solidFill>
                <a:latin typeface="Noto Sans"/>
              </a:rPr>
              <a:t>LATER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5385816"/>
            <a:ext cx="10972800" cy="66751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04688"/>
            <a:ext cx="7086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50" b="1" i="0">
                <a:solidFill>
                  <a:srgbClr val="F8FAFC"/>
                </a:solidFill>
                <a:latin typeface="Noto Sans"/>
              </a:rPr>
              <a:t>SENSE  →  ANALYZE  →  PREDICT  →  BUFFER  →  SYNC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522976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10" b="1" i="0">
                <a:solidFill>
                  <a:srgbClr val="67E8F9"/>
                </a:solidFill>
                <a:latin typeface="Noto Sans"/>
              </a:rPr>
              <a:t>EDGE-AI COLD CHAIN MONITOR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6281928"/>
            <a:ext cx="109545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80" b="0" i="0">
                <a:solidFill>
                  <a:srgbClr val="64748B"/>
                </a:solidFill>
                <a:latin typeface="Noto Sans"/>
              </a:rPr>
              <a:t>Sources: final v8.3 firmware · frozen ML holdout evidence · SIH execution status · ThingSpeak secure setup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
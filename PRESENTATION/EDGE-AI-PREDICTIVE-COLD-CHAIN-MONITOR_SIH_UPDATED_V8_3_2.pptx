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6236208"/>
            <a:ext cx="502920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71600" y="6236208"/>
            <a:ext cx="502919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286000" y="6236208"/>
            <a:ext cx="502920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00400" y="6236208"/>
            <a:ext cx="502920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0" y="6236208"/>
            <a:ext cx="502920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0" y="6236208"/>
            <a:ext cx="502920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0" y="6236208"/>
            <a:ext cx="502920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0" y="6236208"/>
            <a:ext cx="502920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0" y="6236208"/>
            <a:ext cx="502920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86800" y="6236208"/>
            <a:ext cx="502920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01200" y="6236208"/>
            <a:ext cx="502920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15600" y="6236208"/>
            <a:ext cx="502920" cy="0"/>
          </a:xfrm>
          <a:prstGeom prst="line">
            <a:avLst/>
          </a:prstGeom>
          <a:ln w="12700">
            <a:solidFill>
              <a:srgbClr val="20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457200"/>
            <a:ext cx="1920240" cy="365760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9496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1" i="0">
                <a:solidFill>
                  <a:srgbClr val="67E8F9"/>
                </a:solidFill>
                <a:latin typeface="Noto Sans"/>
              </a:rPr>
              <a:t>SMART INDIA HACKATHON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1234440"/>
            <a:ext cx="43891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3000" b="1" i="0">
                <a:solidFill>
                  <a:srgbClr val="67E8F9"/>
                </a:solidFill>
                <a:latin typeface="Noto Sans"/>
              </a:rPr>
              <a:t>EDGE-AI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1737360"/>
            <a:ext cx="7498079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Noto Sans"/>
              </a:rPr>
              <a:t>PREDICTIVE COLD CHAIN
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035808"/>
            <a:ext cx="74066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Noto Sans"/>
              </a:rPr>
              <a:t>FreeRTOS-enabled hyper-local monitoring with on-device predictive 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730752"/>
            <a:ext cx="749808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3771900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67E8F9"/>
                </a:solidFill>
                <a:latin typeface="Noto Sans"/>
              </a:rPr>
              <a:t>ESP32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3730752"/>
            <a:ext cx="804672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81328" y="3771900"/>
            <a:ext cx="67665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67E8F9"/>
                </a:solidFill>
                <a:latin typeface="Noto Sans"/>
              </a:rPr>
              <a:t>SHT30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13432" y="3730752"/>
            <a:ext cx="1298448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39" y="3771900"/>
            <a:ext cx="1170431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  <a:latin typeface="Noto Sans"/>
              </a:rPr>
              <a:t>Decision Tree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12463" y="3730752"/>
            <a:ext cx="960120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76472" y="3771900"/>
            <a:ext cx="8321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A78BFA"/>
                </a:solidFill>
                <a:latin typeface="Noto Sans"/>
              </a:rPr>
              <a:t>FreeRTOS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73168" y="3730752"/>
            <a:ext cx="1481328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37176" y="3771900"/>
            <a:ext cx="135331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  <a:latin typeface="Noto Sans"/>
              </a:rPr>
              <a:t>ThingSpeak HTTPS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28431" y="1243584"/>
            <a:ext cx="3520440" cy="429768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572768"/>
            <a:ext cx="29260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300" b="1" i="0">
                <a:solidFill>
                  <a:srgbClr val="67E8F9"/>
                </a:solidFill>
                <a:latin typeface="Noto Sans"/>
              </a:rPr>
              <a:t>SENSE → PREDICT → ACT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47888" y="2011680"/>
            <a:ext cx="1152144" cy="73152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93608" y="2295144"/>
            <a:ext cx="10607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00" b="1" i="0">
                <a:solidFill>
                  <a:srgbClr val="22D3EE"/>
                </a:solidFill>
                <a:latin typeface="Noto Sans"/>
              </a:rPr>
              <a:t>SHT30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68128" y="2011680"/>
            <a:ext cx="1152144" cy="73152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3848" y="2295144"/>
            <a:ext cx="10607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00" b="1" i="0">
                <a:solidFill>
                  <a:srgbClr val="34D399"/>
                </a:solidFill>
                <a:latin typeface="Noto Sans"/>
              </a:rPr>
              <a:t>ESP32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08007" y="3474720"/>
            <a:ext cx="1152144" cy="73152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53728" y="3758184"/>
            <a:ext cx="10607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  <a:latin typeface="Noto Sans"/>
              </a:rPr>
              <a:t>ML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400032" y="2377440"/>
            <a:ext cx="749808" cy="0"/>
          </a:xfrm>
          <a:prstGeom prst="line">
            <a:avLst/>
          </a:prstGeom>
          <a:ln w="3048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9966960" y="2761488"/>
            <a:ext cx="777240" cy="667512"/>
          </a:xfrm>
          <a:prstGeom prst="line">
            <a:avLst/>
          </a:prstGeom>
          <a:ln w="3048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8842248" y="4343400"/>
            <a:ext cx="685800" cy="594360"/>
          </a:xfrm>
          <a:prstGeom prst="line">
            <a:avLst/>
          </a:prstGeom>
          <a:ln w="3048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430768" y="4818888"/>
            <a:ext cx="2724912" cy="438912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9640" y="4919472"/>
            <a:ext cx="24871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Noto Sans"/>
              </a:rPr>
              <a:t>early warning + telemetry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916168"/>
            <a:ext cx="6949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80" b="1" i="0">
                <a:solidFill>
                  <a:srgbClr val="64748B"/>
                </a:solidFill>
                <a:latin typeface="Noto Sans"/>
              </a:rPr>
              <a:t>SIH26215  ·  Theme: MedTech  ·  Hardware  ·  Team 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199632"/>
            <a:ext cx="5760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1" i="0">
                <a:solidFill>
                  <a:srgbClr val="94A3B8"/>
                </a:solidFill>
                <a:latin typeface="Noto Sans"/>
              </a:rPr>
              <a:t>IMPACT INNOVATORS · RV UNIVERSITY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37392" y="6446520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Noto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67E8F9"/>
                </a:solidFill>
                <a:latin typeface="Noto Sans"/>
              </a:rPr>
              <a:t>01 · 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Noto Sans"/>
              </a:rPr>
              <a:t>Cold-chain failures are often detected after the damage starts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88720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Noto Sans"/>
              </a:rPr>
              <a:t>The project shifts monitoring from reactive thresholds to local prediction and resilient telemetry.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5440680" cy="4370832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993392"/>
            <a:ext cx="1097280" cy="310896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34540"/>
            <a:ext cx="96926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07111F"/>
                </a:solidFill>
                <a:latin typeface="Noto San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96312"/>
            <a:ext cx="480060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Noto Sans"/>
              </a:rPr>
              <a:t>Temperature-sensitive healthcare products can leave the 2–8°C band during last-mile movement.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456432"/>
            <a:ext cx="109728" cy="109728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383280"/>
            <a:ext cx="444398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  <a:latin typeface="Noto Sans"/>
              </a:rPr>
              <a:t>A threshold alarm tells the operator that a breach is happening — not how soon it will happen.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02336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50208"/>
            <a:ext cx="444398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  <a:latin typeface="Noto Sans"/>
              </a:rPr>
              <a:t>Connectivity interruptions can break continuous remote visibility.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590288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517136"/>
            <a:ext cx="444398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  <a:latin typeface="Noto Sans"/>
              </a:rPr>
              <a:t>Irregular sampling cadence can make a trained time-series model misleading if deployed naively.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5157216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5084064"/>
            <a:ext cx="444398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  <a:latin typeface="Noto Sans"/>
              </a:rPr>
              <a:t>A low-cost field device needs local computation, buffering and recovery — not cloud-only intelligence.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912" y="1783080"/>
            <a:ext cx="5532120" cy="4370832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64224" y="1993392"/>
            <a:ext cx="1207008" cy="310896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2034540"/>
            <a:ext cx="10789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07111F"/>
                </a:solidFill>
                <a:latin typeface="Noto Sans"/>
              </a:rPr>
              <a:t>DESIGN SHIFT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560320"/>
            <a:ext cx="21762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Noto Sans"/>
              </a:rPr>
              <a:t>Reactive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7656" y="2523744"/>
            <a:ext cx="31089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2000" b="1" i="0">
                <a:solidFill>
                  <a:srgbClr val="67E8F9"/>
                </a:solidFill>
                <a:latin typeface="Noto San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2560320"/>
            <a:ext cx="21488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  <a:latin typeface="Noto Sans"/>
              </a:rPr>
              <a:t>Predictive edge monitoring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10528" y="3108960"/>
            <a:ext cx="896112" cy="347472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4536" y="3172968"/>
            <a:ext cx="7680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 i="0">
                <a:solidFill>
                  <a:srgbClr val="22D3EE"/>
                </a:solidFill>
                <a:latin typeface="Noto Sans"/>
              </a:rPr>
              <a:t>SENSE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6" y="3154679"/>
            <a:ext cx="336499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70" b="0" i="0">
                <a:solidFill>
                  <a:srgbClr val="F8FAFC"/>
                </a:solidFill>
                <a:latin typeface="Noto Sans"/>
              </a:rPr>
              <a:t>2-second local sensing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0528" y="3630168"/>
            <a:ext cx="896112" cy="347472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4536" y="3694176"/>
            <a:ext cx="7680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 i="0">
                <a:solidFill>
                  <a:srgbClr val="A78BFA"/>
                </a:solidFill>
                <a:latin typeface="Noto Sans"/>
              </a:rPr>
              <a:t>ANALYZE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675887"/>
            <a:ext cx="336499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70" b="0" i="0">
                <a:solidFill>
                  <a:srgbClr val="F8FAFC"/>
                </a:solidFill>
                <a:latin typeface="Noto Sans"/>
              </a:rPr>
              <a:t>rules + thermal models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10528" y="4151376"/>
            <a:ext cx="896112" cy="347472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74536" y="4215384"/>
            <a:ext cx="7680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 i="0">
                <a:solidFill>
                  <a:srgbClr val="34D399"/>
                </a:solidFill>
                <a:latin typeface="Noto Sans"/>
              </a:rPr>
              <a:t>PREDICT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6096" y="4197096"/>
            <a:ext cx="336499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70" b="0" i="0">
                <a:solidFill>
                  <a:srgbClr val="F8FAFC"/>
                </a:solidFill>
                <a:latin typeface="Noto Sans"/>
              </a:rPr>
              <a:t>Decision Tree on ESP32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10528" y="4672583"/>
            <a:ext cx="896112" cy="347472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74536" y="4736592"/>
            <a:ext cx="7680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 i="0">
                <a:solidFill>
                  <a:srgbClr val="F59E0B"/>
                </a:solidFill>
                <a:latin typeface="Noto Sans"/>
              </a:rPr>
              <a:t>BUFFER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6096" y="4718303"/>
            <a:ext cx="336499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70" b="0" i="0">
                <a:solidFill>
                  <a:srgbClr val="F8FAFC"/>
                </a:solidFill>
                <a:latin typeface="Noto Sans"/>
              </a:rPr>
              <a:t>LittleFS during outages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10528" y="5193792"/>
            <a:ext cx="896112" cy="347472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74536" y="5257800"/>
            <a:ext cx="7680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 i="0">
                <a:solidFill>
                  <a:srgbClr val="22D3EE"/>
                </a:solidFill>
                <a:latin typeface="Noto Sans"/>
              </a:rPr>
              <a:t>SYNC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6096" y="5239512"/>
            <a:ext cx="336499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70" b="0" i="0">
                <a:solidFill>
                  <a:srgbClr val="F8FAFC"/>
                </a:solidFill>
                <a:latin typeface="Noto Sans"/>
              </a:rPr>
              <a:t>ThingSpeak REST/HTTPS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 i="0">
                <a:solidFill>
                  <a:srgbClr val="64748B"/>
                </a:solidFill>
                <a:latin typeface="Noto Sans"/>
              </a:rPr>
              <a:t>IMPACT INNOVATORS · SIH26215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37392" y="6446520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Noto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67E8F9"/>
                </a:solidFill>
                <a:latin typeface="Noto Sans"/>
              </a:rPr>
              <a:t>02 ·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Noto Sans"/>
              </a:rPr>
              <a:t>One device, two cadences, one resilient data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88720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Noto Sans"/>
              </a:rPr>
              <a:t>Fast safety logic runs continuously; the trained ML model runs on the cadence it was trained for.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57984"/>
            <a:ext cx="1627632" cy="141732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340864"/>
            <a:ext cx="140817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1" i="0">
                <a:solidFill>
                  <a:srgbClr val="22D3EE"/>
                </a:solidFill>
                <a:latin typeface="Noto Sans"/>
              </a:rPr>
              <a:t>SENSE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679192"/>
            <a:ext cx="137160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500" b="1" i="0">
                <a:solidFill>
                  <a:srgbClr val="F8FAFC"/>
                </a:solidFill>
                <a:latin typeface="Noto Sans"/>
              </a:rPr>
              <a:t>SHT30
+ GPS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40280" y="2852928"/>
            <a:ext cx="448056" cy="0"/>
          </a:xfrm>
          <a:prstGeom prst="line">
            <a:avLst/>
          </a:prstGeom>
          <a:ln w="3048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61488" y="2157984"/>
            <a:ext cx="1627632" cy="141732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71216" y="2340864"/>
            <a:ext cx="140817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1" i="0">
                <a:solidFill>
                  <a:srgbClr val="FB7185"/>
                </a:solidFill>
                <a:latin typeface="Noto Sans"/>
              </a:rPr>
              <a:t>FAST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9504" y="2679192"/>
            <a:ext cx="137160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500" b="1" i="0">
                <a:solidFill>
                  <a:srgbClr val="F8FAFC"/>
                </a:solidFill>
                <a:latin typeface="Noto Sans"/>
              </a:rPr>
              <a:t>2 s
rules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07408" y="2852928"/>
            <a:ext cx="466344" cy="0"/>
          </a:xfrm>
          <a:prstGeom prst="line">
            <a:avLst/>
          </a:prstGeom>
          <a:ln w="3048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46904" y="2157984"/>
            <a:ext cx="1627632" cy="141732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6632" y="2340864"/>
            <a:ext cx="140817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  <a:latin typeface="Noto Sans"/>
              </a:rPr>
              <a:t>ML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679192"/>
            <a:ext cx="137160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500" b="1" i="0">
                <a:solidFill>
                  <a:srgbClr val="F8FAFC"/>
                </a:solidFill>
                <a:latin typeface="Noto Sans"/>
              </a:rPr>
              <a:t>10 min
buckets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92824" y="2852928"/>
            <a:ext cx="484632" cy="0"/>
          </a:xfrm>
          <a:prstGeom prst="line">
            <a:avLst/>
          </a:prstGeom>
          <a:ln w="3048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50608" y="2157984"/>
            <a:ext cx="1627632" cy="141732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0336" y="2340864"/>
            <a:ext cx="140817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1" i="0">
                <a:solidFill>
                  <a:srgbClr val="A78BFA"/>
                </a:solidFill>
                <a:latin typeface="Noto Sans"/>
              </a:rPr>
              <a:t>LOCAL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4" y="2679192"/>
            <a:ext cx="137160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500" b="1" i="0">
                <a:solidFill>
                  <a:srgbClr val="F8FAFC"/>
                </a:solidFill>
                <a:latin typeface="Noto Sans"/>
              </a:rPr>
              <a:t>alert +
risk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96528" y="2852928"/>
            <a:ext cx="484632" cy="0"/>
          </a:xfrm>
          <a:prstGeom prst="line">
            <a:avLst/>
          </a:prstGeom>
          <a:ln w="3048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54312" y="2157984"/>
            <a:ext cx="1627632" cy="141732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2340864"/>
            <a:ext cx="140817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  <a:latin typeface="Noto Sans"/>
              </a:rPr>
              <a:t>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2328" y="2679192"/>
            <a:ext cx="137160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500" b="1" i="0">
                <a:solidFill>
                  <a:srgbClr val="F8FAFC"/>
                </a:solidFill>
                <a:latin typeface="Noto Sans"/>
              </a:rPr>
              <a:t>ThingSpeak
REST/HTTPS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3886200"/>
            <a:ext cx="4050791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33088" y="3927348"/>
            <a:ext cx="392277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1" i="0">
                <a:solidFill>
                  <a:srgbClr val="67E8F9"/>
                </a:solidFill>
                <a:latin typeface="Noto Sans"/>
              </a:rPr>
              <a:t>IMPORTANT: 2 s sensing ≠ 10 min ML inference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462272"/>
            <a:ext cx="11000232" cy="137160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654296"/>
            <a:ext cx="14813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1" i="0">
                <a:solidFill>
                  <a:srgbClr val="A78BFA"/>
                </a:solidFill>
                <a:latin typeface="Noto Sans"/>
              </a:rPr>
              <a:t>FREE_RTOS TASKING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40280" y="4663440"/>
            <a:ext cx="2816352" cy="84124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95728" y="4791456"/>
            <a:ext cx="24871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150" b="1" i="0">
                <a:solidFill>
                  <a:srgbClr val="F8FAFC"/>
                </a:solidFill>
                <a:latin typeface="Noto Sans"/>
              </a:rPr>
              <a:t>SensorTask  ·  Core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5074920"/>
            <a:ext cx="24871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Noto Sans"/>
              </a:rPr>
              <a:t>SHT30/GPS → feature windows → queue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57800" y="4773168"/>
            <a:ext cx="932688" cy="59436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58384" y="4919472"/>
            <a:ext cx="731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880" b="1" i="0">
                <a:solidFill>
                  <a:srgbClr val="67E8F9"/>
                </a:solidFill>
                <a:latin typeface="Noto Sans"/>
              </a:rPr>
              <a:t>QUEUE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47488" y="5074920"/>
            <a:ext cx="192024" cy="0"/>
          </a:xfrm>
          <a:prstGeom prst="line">
            <a:avLst/>
          </a:prstGeom>
          <a:ln w="3048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208776" y="5074920"/>
            <a:ext cx="210312" cy="0"/>
          </a:xfrm>
          <a:prstGeom prst="line">
            <a:avLst/>
          </a:prstGeom>
          <a:ln w="3048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437376" y="4663440"/>
            <a:ext cx="2889504" cy="84124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791456"/>
            <a:ext cx="259689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150" b="1" i="0">
                <a:solidFill>
                  <a:srgbClr val="F8FAFC"/>
                </a:solidFill>
                <a:latin typeface="Noto Sans"/>
              </a:rPr>
              <a:t>CloudTask  ·  Core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074920"/>
            <a:ext cx="25968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Noto Sans"/>
              </a:rPr>
              <a:t>ThingSpeak pacing + LittleFS backlog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19488" y="4663440"/>
            <a:ext cx="1490472" cy="84124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38944" y="4855464"/>
            <a:ext cx="10515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Noto Sans"/>
              </a:rPr>
              <a:t>Mutex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74936" y="5111496"/>
            <a:ext cx="11704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819" b="0" i="0">
                <a:solidFill>
                  <a:srgbClr val="94A3B8"/>
                </a:solidFill>
                <a:latin typeface="Noto Sans"/>
              </a:rPr>
              <a:t>sync metadata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 i="0">
                <a:solidFill>
                  <a:srgbClr val="64748B"/>
                </a:solidFill>
                <a:latin typeface="Noto Sans"/>
              </a:rPr>
              <a:t>IMPACT INNOVATORS · SIH26215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37392" y="6446520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Noto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67E8F9"/>
                </a:solidFill>
                <a:latin typeface="Noto Sans"/>
              </a:rPr>
              <a:t>03 · HARDWARE &amp; FIRMWARE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Noto Sans"/>
              </a:rPr>
              <a:t>Built from low-cost, commonly available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88720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Noto Sans"/>
              </a:rPr>
              <a:t>The MVP uses a practical sensor + MCU + cloud stack while keeping intelligence at the edge.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792224"/>
            <a:ext cx="2551176" cy="1353312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8096" y="2029968"/>
            <a:ext cx="420624" cy="42062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1984248"/>
            <a:ext cx="169164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Noto Sans"/>
              </a:rPr>
              <a:t>ESP32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276856"/>
            <a:ext cx="1682496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Noto Sans"/>
              </a:rPr>
              <a:t>MCU + Wi-Fi
FreeRTOS runtime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792224"/>
            <a:ext cx="2551176" cy="1353312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21024" y="2029968"/>
            <a:ext cx="420624" cy="42062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51376" y="1984248"/>
            <a:ext cx="169164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Noto Sans"/>
              </a:rPr>
              <a:t>SHT30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1376" y="2276856"/>
            <a:ext cx="1682496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Noto Sans"/>
              </a:rPr>
              <a:t>Temp + humidity
I²C / 2 s reads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92224"/>
            <a:ext cx="2551176" cy="1353312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3952" y="2029968"/>
            <a:ext cx="420624" cy="42062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04304" y="1984248"/>
            <a:ext cx="169164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Noto Sans"/>
              </a:rPr>
              <a:t>NEO-6M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04" y="2276856"/>
            <a:ext cx="1682496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Noto Sans"/>
              </a:rPr>
              <a:t>GPS context
UART / freshness gate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62288" y="1792224"/>
            <a:ext cx="2551176" cy="1353312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880" y="2029968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57232" y="1984248"/>
            <a:ext cx="169164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Noto Sans"/>
              </a:rPr>
              <a:t>LittleFS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57232" y="2276856"/>
            <a:ext cx="1682496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0" i="0">
                <a:solidFill>
                  <a:srgbClr val="94A3B8"/>
                </a:solidFill>
                <a:latin typeface="Noto Sans"/>
              </a:rPr>
              <a:t>Persistent offline
telemetry backlog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" y="3401568"/>
            <a:ext cx="5303520" cy="2340864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" y="3602736"/>
            <a:ext cx="713232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643884"/>
            <a:ext cx="5852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67E8F9"/>
                </a:solidFill>
                <a:latin typeface="Noto Sans"/>
              </a:rPr>
              <a:t>WIRING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160520"/>
            <a:ext cx="80467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1" i="0">
                <a:solidFill>
                  <a:srgbClr val="94A3B8"/>
                </a:solidFill>
                <a:latin typeface="Noto Sans"/>
              </a:rPr>
              <a:t>SDA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4389120"/>
            <a:ext cx="1417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1" i="0">
                <a:solidFill>
                  <a:srgbClr val="22D3EE"/>
                </a:solidFill>
                <a:latin typeface="Noto Sans"/>
              </a:rPr>
              <a:t>GPIO 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4818888"/>
            <a:ext cx="80467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1" i="0">
                <a:solidFill>
                  <a:srgbClr val="94A3B8"/>
                </a:solidFill>
                <a:latin typeface="Noto Sans"/>
              </a:rPr>
              <a:t>SCL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047488"/>
            <a:ext cx="1417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1" i="0">
                <a:solidFill>
                  <a:srgbClr val="22D3EE"/>
                </a:solidFill>
                <a:latin typeface="Noto Sans"/>
              </a:rPr>
              <a:t>GPIO 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79" y="4160520"/>
            <a:ext cx="80467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1" i="0">
                <a:solidFill>
                  <a:srgbClr val="94A3B8"/>
                </a:solidFill>
                <a:latin typeface="Noto Sans"/>
              </a:rPr>
              <a:t>GPS RX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79" y="4389120"/>
            <a:ext cx="1417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Noto Sans"/>
              </a:rPr>
              <a:t>GPIO 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4818888"/>
            <a:ext cx="80467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9" b="1" i="0">
                <a:solidFill>
                  <a:srgbClr val="94A3B8"/>
                </a:solidFill>
                <a:latin typeface="Noto Sans"/>
              </a:rPr>
              <a:t>GPS TX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79" y="5047488"/>
            <a:ext cx="1417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Noto Sans"/>
              </a:rPr>
              <a:t>GPIO 17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35624" y="3401568"/>
            <a:ext cx="5449824" cy="2340864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45936" y="3602736"/>
            <a:ext cx="1307592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3643884"/>
            <a:ext cx="117957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A78BFA"/>
                </a:solidFill>
                <a:latin typeface="Noto Sans"/>
              </a:rPr>
              <a:t>FIRMWARE 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24" y="4114800"/>
            <a:ext cx="140817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1" i="0">
                <a:solidFill>
                  <a:srgbClr val="F8FAFC"/>
                </a:solidFill>
                <a:latin typeface="Noto Sans"/>
              </a:rPr>
              <a:t>Sensor task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08975" y="4114800"/>
            <a:ext cx="34015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"/>
              </a:rPr>
              <a:t>sampling + feature window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4224" y="4498848"/>
            <a:ext cx="140817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1" i="0">
                <a:solidFill>
                  <a:srgbClr val="F8FAFC"/>
                </a:solidFill>
                <a:latin typeface="Noto Sans"/>
              </a:rPr>
              <a:t>Decision layer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08975" y="4498848"/>
            <a:ext cx="34015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"/>
              </a:rPr>
              <a:t>heat/freeze latch + thermal models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4224" y="4882896"/>
            <a:ext cx="140817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1" i="0">
                <a:solidFill>
                  <a:srgbClr val="F8FAFC"/>
                </a:solidFill>
                <a:latin typeface="Noto Sans"/>
              </a:rPr>
              <a:t>ML 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08975" y="4882896"/>
            <a:ext cx="34015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"/>
              </a:rPr>
              <a:t>embedded Decision Tree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4224" y="5266944"/>
            <a:ext cx="140817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1" i="0">
                <a:solidFill>
                  <a:srgbClr val="F8FAFC"/>
                </a:solidFill>
                <a:latin typeface="Noto Sans"/>
              </a:rPr>
              <a:t>Cloud task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8975" y="5266944"/>
            <a:ext cx="34015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"/>
              </a:rPr>
              <a:t>15 s ThingSpeak + offline backlog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 i="0">
                <a:solidFill>
                  <a:srgbClr val="64748B"/>
                </a:solidFill>
                <a:latin typeface="Noto Sans"/>
              </a:rPr>
              <a:t>IMPACT INNOVATORS · SIH26215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37392" y="6446520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Noto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67E8F9"/>
                </a:solidFill>
                <a:latin typeface="Noto Sans"/>
              </a:rPr>
              <a:t>04 · WHERE THE AI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Noto Sans"/>
              </a:rPr>
              <a:t>The learned model runs on the ESP32 — not in the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88720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Noto Sans"/>
              </a:rPr>
              <a:t>The cloud is telemetry. The trained Decision Tree is embedded into firmware for local inference.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83664"/>
            <a:ext cx="1938528" cy="138988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03120"/>
            <a:ext cx="17190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0" b="1" i="0">
                <a:solidFill>
                  <a:srgbClr val="A78BFA"/>
                </a:solidFill>
                <a:latin typeface="Noto Sans"/>
              </a:rPr>
              <a:t>TRAIN OFFLINE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487168"/>
            <a:ext cx="164592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9" b="1" i="0">
                <a:solidFill>
                  <a:srgbClr val="F8FAFC"/>
                </a:solidFill>
                <a:latin typeface="Noto Sans"/>
              </a:rPr>
              <a:t>Historical thermal data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51176" y="2578608"/>
            <a:ext cx="274320" cy="0"/>
          </a:xfrm>
          <a:prstGeom prst="line">
            <a:avLst/>
          </a:prstGeom>
          <a:ln w="29209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883664"/>
            <a:ext cx="1938528" cy="138988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2103120"/>
            <a:ext cx="17190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0" b="1" i="0">
                <a:solidFill>
                  <a:srgbClr val="22D3EE"/>
                </a:solidFill>
                <a:latin typeface="Noto Sans"/>
              </a:rPr>
              <a:t>EXPORT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6664" y="2487168"/>
            <a:ext cx="164592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9" b="1" i="0">
                <a:solidFill>
                  <a:srgbClr val="F8FAFC"/>
                </a:solidFill>
                <a:latin typeface="Noto Sans"/>
              </a:rPr>
              <a:t>C/C++ tree header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37176" y="2578608"/>
            <a:ext cx="274320" cy="0"/>
          </a:xfrm>
          <a:prstGeom prst="line">
            <a:avLst/>
          </a:prstGeom>
          <a:ln w="29209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1883664"/>
            <a:ext cx="1938528" cy="138988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6088" y="2103120"/>
            <a:ext cx="17190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0" b="1" i="0">
                <a:solidFill>
                  <a:srgbClr val="34D399"/>
                </a:solidFill>
                <a:latin typeface="Noto Sans"/>
              </a:rPr>
              <a:t>ADAPT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2664" y="2487168"/>
            <a:ext cx="164592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9" b="1" i="0">
                <a:solidFill>
                  <a:srgbClr val="F8FAFC"/>
                </a:solidFill>
                <a:latin typeface="Noto Sans"/>
              </a:rPr>
              <a:t>10-min bucket cadence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23176" y="2578608"/>
            <a:ext cx="274320" cy="0"/>
          </a:xfrm>
          <a:prstGeom prst="line">
            <a:avLst/>
          </a:prstGeom>
          <a:ln w="29209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52360" y="1883664"/>
            <a:ext cx="1938528" cy="138988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2088" y="2103120"/>
            <a:ext cx="17190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0" b="1" i="0">
                <a:solidFill>
                  <a:srgbClr val="F59E0B"/>
                </a:solidFill>
                <a:latin typeface="Noto Sans"/>
              </a:rPr>
              <a:t>INFER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98664" y="2487168"/>
            <a:ext cx="164592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9" b="1" i="0">
                <a:solidFill>
                  <a:srgbClr val="F8FAFC"/>
                </a:solidFill>
                <a:latin typeface="Noto Sans"/>
              </a:rPr>
              <a:t>ESP32 Decision Tree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09176" y="2578608"/>
            <a:ext cx="274320" cy="0"/>
          </a:xfrm>
          <a:prstGeom prst="line">
            <a:avLst/>
          </a:prstGeom>
          <a:ln w="29209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38360" y="1883664"/>
            <a:ext cx="1938528" cy="138988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48088" y="2103120"/>
            <a:ext cx="17190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0" b="1" i="0">
                <a:solidFill>
                  <a:srgbClr val="FB7185"/>
                </a:solidFill>
                <a:latin typeface="Noto Sans"/>
              </a:rPr>
              <a:t>WARN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84664" y="2487168"/>
            <a:ext cx="164592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9" b="1" i="0">
                <a:solidFill>
                  <a:srgbClr val="F8FAFC"/>
                </a:solidFill>
                <a:latin typeface="Noto Sans"/>
              </a:rPr>
              <a:t>2 positive windows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685032"/>
            <a:ext cx="7360920" cy="1993392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" y="3895344"/>
            <a:ext cx="1005840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36491"/>
            <a:ext cx="87782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  <a:latin typeface="Noto Sans"/>
              </a:rPr>
              <a:t>10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361688"/>
            <a:ext cx="31546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90" b="0" i="0">
                <a:solidFill>
                  <a:srgbClr val="F8FAFC"/>
                </a:solidFill>
                <a:latin typeface="Noto Sans"/>
              </a:rPr>
              <a:t>• temperature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2" y="4361688"/>
            <a:ext cx="31546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90" b="0" i="0">
                <a:solidFill>
                  <a:srgbClr val="F8FAFC"/>
                </a:solidFill>
                <a:latin typeface="Noto Sans"/>
              </a:rPr>
              <a:t>• 5-sample mean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654296"/>
            <a:ext cx="31546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90" b="0" i="0">
                <a:solidFill>
                  <a:srgbClr val="F8FAFC"/>
                </a:solidFill>
                <a:latin typeface="Noto Sans"/>
              </a:rPr>
              <a:t>• 5-sample std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4654296"/>
            <a:ext cx="31546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90" b="0" i="0">
                <a:solidFill>
                  <a:srgbClr val="F8FAFC"/>
                </a:solidFill>
                <a:latin typeface="Noto Sans"/>
              </a:rPr>
              <a:t>• 5-sample slope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4946903"/>
            <a:ext cx="31546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90" b="0" i="0">
                <a:solidFill>
                  <a:srgbClr val="F8FAFC"/>
                </a:solidFill>
                <a:latin typeface="Noto Sans"/>
              </a:rPr>
              <a:t>• 10-min delta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9392" y="4946903"/>
            <a:ext cx="31546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90" b="0" i="0">
                <a:solidFill>
                  <a:srgbClr val="F8FAFC"/>
                </a:solidFill>
                <a:latin typeface="Noto Sans"/>
              </a:rPr>
              <a:t>• 20-min delta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" y="5239512"/>
            <a:ext cx="31546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90" b="0" i="0">
                <a:solidFill>
                  <a:srgbClr val="F8FAFC"/>
                </a:solidFill>
                <a:latin typeface="Noto Sans"/>
              </a:rPr>
              <a:t>• rising fraction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392" y="5239512"/>
            <a:ext cx="31546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90" b="0" i="0">
                <a:solidFill>
                  <a:srgbClr val="F8FAFC"/>
                </a:solidFill>
                <a:latin typeface="Noto Sans"/>
              </a:rPr>
              <a:t>• distance to 8°C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" y="5532120"/>
            <a:ext cx="31546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90" b="0" i="0">
                <a:solidFill>
                  <a:srgbClr val="F8FAFC"/>
                </a:solidFill>
                <a:latin typeface="Noto Sans"/>
              </a:rPr>
              <a:t>• count above 6°C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9392" y="5532120"/>
            <a:ext cx="31546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90" b="0" i="0">
                <a:solidFill>
                  <a:srgbClr val="F8FAFC"/>
                </a:solidFill>
                <a:latin typeface="Noto Sans"/>
              </a:rPr>
              <a:t>• slope acceleration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74736" y="3685032"/>
            <a:ext cx="3410712" cy="1993392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85048" y="3895344"/>
            <a:ext cx="1261872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49056" y="3936491"/>
            <a:ext cx="1133855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  <a:latin typeface="Noto Sans"/>
              </a:rPr>
              <a:t>MODEL CONTRACT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8" y="4389120"/>
            <a:ext cx="777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0" b="1" i="0">
                <a:solidFill>
                  <a:srgbClr val="94A3B8"/>
                </a:solidFill>
                <a:latin typeface="Noto Sans"/>
              </a:rPr>
              <a:t>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08592" y="4379976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20" b="1" i="0">
                <a:solidFill>
                  <a:srgbClr val="F59E0B"/>
                </a:solidFill>
                <a:latin typeface="Noto Sans"/>
              </a:rPr>
              <a:t>0.85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5048" y="4736592"/>
            <a:ext cx="777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0" b="1" i="0">
                <a:solidFill>
                  <a:srgbClr val="94A3B8"/>
                </a:solidFill>
                <a:latin typeface="Noto Sans"/>
              </a:rPr>
              <a:t>Persistence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8592" y="4727448"/>
            <a:ext cx="11155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20" b="1" i="0">
                <a:solidFill>
                  <a:srgbClr val="F59E0B"/>
                </a:solidFill>
                <a:latin typeface="Noto Sans"/>
              </a:rPr>
              <a:t>2 windows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5048" y="5084064"/>
            <a:ext cx="777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10" b="1" i="0">
                <a:solidFill>
                  <a:srgbClr val="94A3B8"/>
                </a:solidFill>
                <a:latin typeface="Noto Sans"/>
              </a:rPr>
              <a:t>Domain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08592" y="5074920"/>
            <a:ext cx="193852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0" b="1" i="0">
                <a:solidFill>
                  <a:srgbClr val="F8FAFC"/>
                </a:solidFill>
                <a:latin typeface="Noto Sans"/>
              </a:rPr>
              <a:t>current bucket &lt; 8°C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5048" y="5422392"/>
            <a:ext cx="2834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0" i="0">
                <a:solidFill>
                  <a:srgbClr val="94A3B8"/>
                </a:solidFill>
                <a:latin typeface="Noto Sans"/>
              </a:rPr>
              <a:t>Minimum bucket coverage: 80% · five valid buckets before first inference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 i="0">
                <a:solidFill>
                  <a:srgbClr val="64748B"/>
                </a:solidFill>
                <a:latin typeface="Noto Sans"/>
              </a:rPr>
              <a:t>IMPACT INNOVATORS · SIH26215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37392" y="6446520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Noto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67E8F9"/>
                </a:solidFill>
                <a:latin typeface="Noto Sans"/>
              </a:rPr>
              <a:t>05 · HYBRID EDGE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Noto Sans"/>
              </a:rPr>
              <a:t>ML is only one layer — the system combines learned, deterministic and thermal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88720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Noto Sans"/>
              </a:rPr>
              <a:t>Each layer answers a different operational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901952"/>
            <a:ext cx="3456432" cy="3401568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2112264"/>
            <a:ext cx="1426464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53412"/>
            <a:ext cx="129844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19" b="1" i="0">
                <a:solidFill>
                  <a:srgbClr val="FB7185"/>
                </a:solidFill>
                <a:latin typeface="Noto Sans"/>
              </a:rPr>
              <a:t>FAST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633472"/>
            <a:ext cx="2971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20" b="1" i="0">
                <a:solidFill>
                  <a:srgbClr val="F8FAFC"/>
                </a:solidFill>
                <a:latin typeface="Noto Sans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3108960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"/>
              </a:rPr>
              <a:t>Is the product already outside the safe band?</a:t>
            </a:r>
          </a:p>
        </p:txBody>
      </p:sp>
      <p:sp>
        <p:nvSpPr>
          <p:cNvPr id="10" name="Oval 9"/>
          <p:cNvSpPr/>
          <p:nvPr/>
        </p:nvSpPr>
        <p:spPr>
          <a:xfrm>
            <a:off x="832104" y="3776472"/>
            <a:ext cx="109728" cy="109728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703320"/>
            <a:ext cx="263347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 i="0">
                <a:solidFill>
                  <a:srgbClr val="F8FAFC"/>
                </a:solidFill>
                <a:latin typeface="Noto Sans"/>
              </a:rPr>
              <a:t>2 s sampling</a:t>
            </a:r>
          </a:p>
        </p:txBody>
      </p:sp>
      <p:sp>
        <p:nvSpPr>
          <p:cNvPr id="12" name="Oval 11"/>
          <p:cNvSpPr/>
          <p:nvPr/>
        </p:nvSpPr>
        <p:spPr>
          <a:xfrm>
            <a:off x="832104" y="4215383"/>
            <a:ext cx="109728" cy="109728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4142231"/>
            <a:ext cx="263347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 i="0">
                <a:solidFill>
                  <a:srgbClr val="F8FAFC"/>
                </a:solidFill>
                <a:latin typeface="Noto Sans"/>
              </a:rPr>
              <a:t>heat/freeze latch</a:t>
            </a:r>
          </a:p>
        </p:txBody>
      </p:sp>
      <p:sp>
        <p:nvSpPr>
          <p:cNvPr id="14" name="Oval 13"/>
          <p:cNvSpPr/>
          <p:nvPr/>
        </p:nvSpPr>
        <p:spPr>
          <a:xfrm>
            <a:off x="832104" y="4654296"/>
            <a:ext cx="109728" cy="109728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4581144"/>
            <a:ext cx="263347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 i="0">
                <a:solidFill>
                  <a:srgbClr val="F8FAFC"/>
                </a:solidFill>
                <a:latin typeface="Noto Sans"/>
              </a:rPr>
              <a:t>persistence filter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6552" y="1901952"/>
            <a:ext cx="3456432" cy="3401568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17720" y="2112264"/>
            <a:ext cx="1207008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2153412"/>
            <a:ext cx="10789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19" b="1" i="0">
                <a:solidFill>
                  <a:srgbClr val="34D399"/>
                </a:solidFill>
                <a:latin typeface="Noto Sans"/>
              </a:rPr>
              <a:t>EDGE 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633472"/>
            <a:ext cx="2971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20" b="1" i="0">
                <a:solidFill>
                  <a:srgbClr val="F8FAFC"/>
                </a:solidFill>
                <a:latin typeface="Noto Sans"/>
              </a:rPr>
              <a:t>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3108960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"/>
              </a:rPr>
              <a:t>Is the trajectory likely to cross 8°C soon?</a:t>
            </a:r>
          </a:p>
        </p:txBody>
      </p:sp>
      <p:sp>
        <p:nvSpPr>
          <p:cNvPr id="21" name="Oval 20"/>
          <p:cNvSpPr/>
          <p:nvPr/>
        </p:nvSpPr>
        <p:spPr>
          <a:xfrm>
            <a:off x="4645152" y="3776472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3703320"/>
            <a:ext cx="263347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 i="0">
                <a:solidFill>
                  <a:srgbClr val="F8FAFC"/>
                </a:solidFill>
                <a:latin typeface="Noto Sans"/>
              </a:rPr>
              <a:t>10 min windows</a:t>
            </a:r>
          </a:p>
        </p:txBody>
      </p:sp>
      <p:sp>
        <p:nvSpPr>
          <p:cNvPr id="23" name="Oval 22"/>
          <p:cNvSpPr/>
          <p:nvPr/>
        </p:nvSpPr>
        <p:spPr>
          <a:xfrm>
            <a:off x="4645152" y="4215383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4142231"/>
            <a:ext cx="263347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 i="0">
                <a:solidFill>
                  <a:srgbClr val="F8FAFC"/>
                </a:solidFill>
                <a:latin typeface="Noto Sans"/>
              </a:rPr>
              <a:t>Decision Tree</a:t>
            </a:r>
          </a:p>
        </p:txBody>
      </p:sp>
      <p:sp>
        <p:nvSpPr>
          <p:cNvPr id="25" name="Oval 24"/>
          <p:cNvSpPr/>
          <p:nvPr/>
        </p:nvSpPr>
        <p:spPr>
          <a:xfrm>
            <a:off x="4645152" y="4654296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4581144"/>
            <a:ext cx="263347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 i="0">
                <a:solidFill>
                  <a:srgbClr val="F8FAFC"/>
                </a:solidFill>
                <a:latin typeface="Noto Sans"/>
              </a:rPr>
              <a:t>local predictive alert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901952"/>
            <a:ext cx="3456432" cy="3401568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30768" y="2112264"/>
            <a:ext cx="1426464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94776" y="2153412"/>
            <a:ext cx="129844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19" b="1" i="0">
                <a:solidFill>
                  <a:srgbClr val="A78BFA"/>
                </a:solidFill>
                <a:latin typeface="Noto Sans"/>
              </a:rPr>
              <a:t>THERMAL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2633472"/>
            <a:ext cx="2971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20" b="1" i="0">
                <a:solidFill>
                  <a:srgbClr val="F8FAFC"/>
                </a:solidFill>
                <a:latin typeface="Noto Sans"/>
              </a:rPr>
              <a:t>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108960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"/>
              </a:rPr>
              <a:t>How quickly is the condition changing / accumulating exposure?</a:t>
            </a:r>
          </a:p>
        </p:txBody>
      </p:sp>
      <p:sp>
        <p:nvSpPr>
          <p:cNvPr id="32" name="Oval 31"/>
          <p:cNvSpPr/>
          <p:nvPr/>
        </p:nvSpPr>
        <p:spPr>
          <a:xfrm>
            <a:off x="8458200" y="3776472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9368" y="3703320"/>
            <a:ext cx="263347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 i="0">
                <a:solidFill>
                  <a:srgbClr val="F8FAFC"/>
                </a:solidFill>
                <a:latin typeface="Noto Sans"/>
              </a:rPr>
              <a:t>Newton cooling</a:t>
            </a:r>
          </a:p>
        </p:txBody>
      </p:sp>
      <p:sp>
        <p:nvSpPr>
          <p:cNvPr id="34" name="Oval 33"/>
          <p:cNvSpPr/>
          <p:nvPr/>
        </p:nvSpPr>
        <p:spPr>
          <a:xfrm>
            <a:off x="8458200" y="4215383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59368" y="4142231"/>
            <a:ext cx="263347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 i="0">
                <a:solidFill>
                  <a:srgbClr val="F8FAFC"/>
                </a:solidFill>
                <a:latin typeface="Noto Sans"/>
              </a:rPr>
              <a:t>Arrhenius exposure</a:t>
            </a:r>
          </a:p>
        </p:txBody>
      </p:sp>
      <p:sp>
        <p:nvSpPr>
          <p:cNvPr id="36" name="Oval 35"/>
          <p:cNvSpPr/>
          <p:nvPr/>
        </p:nvSpPr>
        <p:spPr>
          <a:xfrm>
            <a:off x="8458200" y="4654296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59368" y="4581144"/>
            <a:ext cx="263347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 i="0">
                <a:solidFill>
                  <a:srgbClr val="F8FAFC"/>
                </a:solidFill>
                <a:latin typeface="Noto Sans"/>
              </a:rPr>
              <a:t>risk score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89888" y="5632704"/>
            <a:ext cx="9418320" cy="438912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5733288"/>
            <a:ext cx="903427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80" b="1" i="0">
                <a:solidFill>
                  <a:srgbClr val="F8FAFC"/>
                </a:solidFill>
                <a:latin typeface="Noto Sans"/>
              </a:rPr>
              <a:t>Operational principle: keep critical detection local so connectivity is not on the critical path for prediction.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 i="0">
                <a:solidFill>
                  <a:srgbClr val="64748B"/>
                </a:solidFill>
                <a:latin typeface="Noto Sans"/>
              </a:rPr>
              <a:t>IMPACT INNOVATORS · SIH26215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37392" y="6446520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Noto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67E8F9"/>
                </a:solidFill>
                <a:latin typeface="Noto Sans"/>
              </a:rPr>
              <a:t>06 · MODEL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Noto Sans"/>
              </a:rPr>
              <a:t>Primary frozen holdout: reproducible evidence, not field-accuracy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88720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Noto Sans"/>
              </a:rPr>
              <a:t>Historical Nepal thermal data were split by source file so entire files were held out from model development.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828800"/>
            <a:ext cx="2121408" cy="157276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993392"/>
            <a:ext cx="179222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500" b="1" i="0">
                <a:solidFill>
                  <a:srgbClr val="22D3EE"/>
                </a:solidFill>
                <a:latin typeface="Noto Sans"/>
              </a:rPr>
              <a:t>66.3%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532888"/>
            <a:ext cx="17922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1" i="0">
                <a:solidFill>
                  <a:srgbClr val="F8FAFC"/>
                </a:solidFill>
                <a:latin typeface="Noto Sans"/>
              </a:rPr>
              <a:t>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816352"/>
            <a:ext cx="17922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69" b="0" i="0">
                <a:solidFill>
                  <a:srgbClr val="94A3B8"/>
                </a:solidFill>
                <a:latin typeface="Noto Sans"/>
              </a:rPr>
              <a:t>How often a positive warning was correct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2928" y="1828800"/>
            <a:ext cx="2121408" cy="157276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993392"/>
            <a:ext cx="179222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500" b="1" i="0">
                <a:solidFill>
                  <a:srgbClr val="34D399"/>
                </a:solidFill>
                <a:latin typeface="Noto Sans"/>
              </a:rPr>
              <a:t>68.1%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532888"/>
            <a:ext cx="17922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1" i="0">
                <a:solidFill>
                  <a:srgbClr val="F8FAFC"/>
                </a:solidFill>
                <a:latin typeface="Noto Sans"/>
              </a:rPr>
              <a:t>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16352"/>
            <a:ext cx="17922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69" b="0" i="0">
                <a:solidFill>
                  <a:srgbClr val="94A3B8"/>
                </a:solidFill>
                <a:latin typeface="Noto Sans"/>
              </a:rPr>
              <a:t>Share of target positives detected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2352" y="1828800"/>
            <a:ext cx="2121408" cy="157276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66944" y="1993392"/>
            <a:ext cx="179222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500" b="1" i="0">
                <a:solidFill>
                  <a:srgbClr val="A78BFA"/>
                </a:solidFill>
                <a:latin typeface="Noto Sans"/>
              </a:rPr>
              <a:t>67.2%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2532888"/>
            <a:ext cx="17922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1" i="0">
                <a:solidFill>
                  <a:srgbClr val="F8FAFC"/>
                </a:solidFill>
                <a:latin typeface="Noto Sans"/>
              </a:rPr>
              <a:t>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2816352"/>
            <a:ext cx="17922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69" b="0" i="0">
                <a:solidFill>
                  <a:srgbClr val="94A3B8"/>
                </a:solidFill>
                <a:latin typeface="Noto Sans"/>
              </a:rPr>
              <a:t>Balance of precision and recall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51775" y="1828800"/>
            <a:ext cx="2121408" cy="157276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1993392"/>
            <a:ext cx="179222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500" b="1" i="0">
                <a:solidFill>
                  <a:srgbClr val="F59E0B"/>
                </a:solidFill>
                <a:latin typeface="Noto Sans"/>
              </a:rPr>
              <a:t>0.907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7" y="2532888"/>
            <a:ext cx="17922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1" i="0">
                <a:solidFill>
                  <a:srgbClr val="F8FAFC"/>
                </a:solidFill>
                <a:latin typeface="Noto Sans"/>
              </a:rPr>
              <a:t>ROC-AUC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7" y="2816352"/>
            <a:ext cx="17922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69" b="0" i="0">
                <a:solidFill>
                  <a:srgbClr val="94A3B8"/>
                </a:solidFill>
                <a:latin typeface="Noto Sans"/>
              </a:rPr>
              <a:t>Ranking quality across thresholds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9488" y="1828800"/>
            <a:ext cx="1938528" cy="1572768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11512" y="2039112"/>
            <a:ext cx="1554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80" b="1" i="0">
                <a:solidFill>
                  <a:srgbClr val="67E8F9"/>
                </a:solidFill>
                <a:latin typeface="Noto Sans"/>
              </a:rPr>
              <a:t>HOLDOUT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395728"/>
            <a:ext cx="151790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2100" b="1" i="0">
                <a:solidFill>
                  <a:srgbClr val="F8FAFC"/>
                </a:solidFill>
                <a:latin typeface="Noto Sans"/>
              </a:rPr>
              <a:t>6,110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2788920"/>
            <a:ext cx="1463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Noto Sans"/>
              </a:rPr>
              <a:t>rows
12 source files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3703320"/>
            <a:ext cx="5102352" cy="2212848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3816" y="3904487"/>
            <a:ext cx="1682496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945635"/>
            <a:ext cx="15544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67E8F9"/>
                </a:solidFill>
                <a:latin typeface="Noto Sans"/>
              </a:rPr>
              <a:t>FROZEN CONFUSION MATRIX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414223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869" b="0" i="0">
                <a:solidFill>
                  <a:srgbClr val="94A3B8"/>
                </a:solidFill>
                <a:latin typeface="Noto Sans"/>
              </a:rPr>
              <a:t>Predicted 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9424" y="414223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869" b="0" i="0">
                <a:solidFill>
                  <a:srgbClr val="94A3B8"/>
                </a:solidFill>
                <a:latin typeface="Noto Sans"/>
              </a:rPr>
              <a:t>Predicted 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4617720"/>
            <a:ext cx="7680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Noto Sans"/>
              </a:rPr>
              <a:t>Actual 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5276088"/>
            <a:ext cx="7680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Noto Sans"/>
              </a:rPr>
              <a:t>Actual 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75104" y="4526280"/>
            <a:ext cx="950976" cy="45720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20824" y="4590288"/>
            <a:ext cx="85953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Noto Sans"/>
              </a:rPr>
              <a:t>175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20824" y="4773168"/>
            <a:ext cx="859536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Noto Sans"/>
              </a:rPr>
              <a:t>TP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44952" y="4526280"/>
            <a:ext cx="950976" cy="45720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90672" y="4590288"/>
            <a:ext cx="85953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 i="0">
                <a:solidFill>
                  <a:srgbClr val="FB7185"/>
                </a:solidFill>
                <a:latin typeface="Noto Sans"/>
              </a:rPr>
              <a:t>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90672" y="4773168"/>
            <a:ext cx="859536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Noto Sans"/>
              </a:rPr>
              <a:t>FN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75104" y="5166360"/>
            <a:ext cx="950976" cy="45720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5230368"/>
            <a:ext cx="85953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Noto Sans"/>
              </a:rPr>
              <a:t>89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20824" y="5413248"/>
            <a:ext cx="859536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Noto Sans"/>
              </a:rPr>
              <a:t>FP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44952" y="5166360"/>
            <a:ext cx="950976" cy="45720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90672" y="5230368"/>
            <a:ext cx="85953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 i="0">
                <a:solidFill>
                  <a:srgbClr val="22D3EE"/>
                </a:solidFill>
                <a:latin typeface="Noto Sans"/>
              </a:rPr>
              <a:t>5,764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5413248"/>
            <a:ext cx="859536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Noto Sans"/>
              </a:rPr>
              <a:t>TN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4773168"/>
            <a:ext cx="10241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Noto Sans"/>
              </a:rPr>
              <a:t>Threshold: 0.85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07024" y="3703320"/>
            <a:ext cx="5650992" cy="2212848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144768" y="3904487"/>
            <a:ext cx="1481328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08776" y="3945635"/>
            <a:ext cx="135331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  <a:latin typeface="Noto Sans"/>
              </a:rPr>
              <a:t>WHAT THE NUMBERS MEAN</a:t>
            </a:r>
          </a:p>
        </p:txBody>
      </p:sp>
      <p:sp>
        <p:nvSpPr>
          <p:cNvPr id="48" name="Oval 47"/>
          <p:cNvSpPr/>
          <p:nvPr/>
        </p:nvSpPr>
        <p:spPr>
          <a:xfrm>
            <a:off x="6163056" y="4480560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4224" y="4407408"/>
            <a:ext cx="45902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90" b="0" i="0">
                <a:solidFill>
                  <a:srgbClr val="F8FAFC"/>
                </a:solidFill>
                <a:latin typeface="Noto Sans"/>
              </a:rPr>
              <a:t>Validation source: historical Nepal thermal data.</a:t>
            </a:r>
          </a:p>
        </p:txBody>
      </p:sp>
      <p:sp>
        <p:nvSpPr>
          <p:cNvPr id="50" name="Oval 49"/>
          <p:cNvSpPr/>
          <p:nvPr/>
        </p:nvSpPr>
        <p:spPr>
          <a:xfrm>
            <a:off x="6163056" y="4873752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64224" y="4800600"/>
            <a:ext cx="4590288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90" b="0" i="0">
                <a:solidFill>
                  <a:srgbClr val="F8FAFC"/>
                </a:solidFill>
                <a:latin typeface="Noto Sans"/>
              </a:rPr>
              <a:t>Source-file holdout: 48 development files + 12 completely held-out files.</a:t>
            </a:r>
          </a:p>
        </p:txBody>
      </p:sp>
      <p:sp>
        <p:nvSpPr>
          <p:cNvPr id="52" name="Oval 51"/>
          <p:cNvSpPr/>
          <p:nvPr/>
        </p:nvSpPr>
        <p:spPr>
          <a:xfrm>
            <a:off x="6163056" y="534009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64224" y="5266944"/>
            <a:ext cx="459028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90" b="0" i="0">
                <a:solidFill>
                  <a:srgbClr val="F8FAFC"/>
                </a:solidFill>
                <a:latin typeface="Noto Sans"/>
              </a:rPr>
              <a:t>These metrics do not represent Bengaluru field accuracy or the final physical ThingSpeak/ML runtime.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 i="0">
                <a:solidFill>
                  <a:srgbClr val="64748B"/>
                </a:solidFill>
                <a:latin typeface="Noto Sans"/>
              </a:rPr>
              <a:t>IMPACT INNOVATORS · SIH26215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37392" y="6446520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Noto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67E8F9"/>
                </a:solidFill>
                <a:latin typeface="Noto Sans"/>
              </a:rPr>
              <a:t>07 · RELIABILITY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Noto Sans"/>
              </a:rPr>
              <a:t>Designed for real field constraints: connectivity loss, cadence gaps and secure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88720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Noto Sans"/>
              </a:rPr>
              <a:t>The final software release hardens the path between sensing and cloud storage.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883664"/>
            <a:ext cx="3456432" cy="132588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075688"/>
            <a:ext cx="2971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Noto Sans"/>
              </a:rPr>
              <a:t>Offline resilience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414016"/>
            <a:ext cx="2971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Noto Sans"/>
              </a:rPr>
              <a:t>LittleFS backlog
rate-limited replay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883664"/>
            <a:ext cx="3456432" cy="132588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2075688"/>
            <a:ext cx="2971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Noto Sans"/>
              </a:rPr>
              <a:t>Secure cloud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2414016"/>
            <a:ext cx="2971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Noto Sans"/>
              </a:rPr>
              <a:t>HTTPS +
DigiCert root 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83664"/>
            <a:ext cx="3456432" cy="132588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075688"/>
            <a:ext cx="2971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Noto Sans"/>
              </a:rPr>
              <a:t>Cadence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14016"/>
            <a:ext cx="2971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Noto Sans"/>
              </a:rPr>
              <a:t>80% coverage
5 valid buckets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" y="3456432"/>
            <a:ext cx="3456432" cy="132588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648456"/>
            <a:ext cx="2971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Noto Sans"/>
              </a:rPr>
              <a:t>False-alarm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986784"/>
            <a:ext cx="2971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Noto Sans"/>
              </a:rPr>
              <a:t>2-window
persistence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6552" y="3456432"/>
            <a:ext cx="3456432" cy="132588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3648456"/>
            <a:ext cx="2971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Noto Sans"/>
              </a:rPr>
              <a:t>Sensor recovery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986784"/>
            <a:ext cx="2971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1" i="0">
                <a:solidFill>
                  <a:srgbClr val="FB7185"/>
                </a:solidFill>
                <a:latin typeface="Noto Sans"/>
              </a:rPr>
              <a:t>re-init after
5 failures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456432"/>
            <a:ext cx="3456432" cy="132588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648456"/>
            <a:ext cx="2971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Noto Sans"/>
              </a:rPr>
              <a:t>GPS freshness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986784"/>
            <a:ext cx="2971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1" i="0">
                <a:solidFill>
                  <a:srgbClr val="67E8F9"/>
                </a:solidFill>
                <a:latin typeface="Noto Sans"/>
              </a:rPr>
              <a:t>120 s age
gate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" y="5212080"/>
            <a:ext cx="10972800" cy="612648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385816"/>
            <a:ext cx="10515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19" b="1" i="0">
                <a:solidFill>
                  <a:srgbClr val="F59E0B"/>
                </a:solidFill>
                <a:latin typeface="Noto Sans"/>
              </a:rPr>
              <a:t>Important limitation: offline buffering protects telemetry data, but not real-time remote alerting while the network is disconnected.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 i="0">
                <a:solidFill>
                  <a:srgbClr val="64748B"/>
                </a:solidFill>
                <a:latin typeface="Noto Sans"/>
              </a:rPr>
              <a:t>IMPACT INNOVATORS · SIH26215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37392" y="6446520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Noto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67E8F9"/>
                </a:solidFill>
                <a:latin typeface="Noto Sans"/>
              </a:rPr>
              <a:t>08 · CURRENT IMPLEMENTATION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Noto Sans"/>
              </a:rPr>
              <a:t>What is verified, what is software-ready, and what still needs the physical 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88720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Noto Sans"/>
              </a:rPr>
              <a:t>This slide is intentionally explicit about evidence boundaries.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810512"/>
            <a:ext cx="6784848" cy="448056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901952"/>
            <a:ext cx="413308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1" i="0">
                <a:solidFill>
                  <a:srgbClr val="F8FAFC"/>
                </a:solidFill>
                <a:latin typeface="Noto Sans"/>
              </a:rPr>
              <a:t>ESP32 + SHT30 sensing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1883664"/>
            <a:ext cx="987552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47488" y="1924812"/>
            <a:ext cx="85953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10" b="1" i="0">
                <a:solidFill>
                  <a:srgbClr val="07111F"/>
                </a:solidFill>
                <a:latin typeface="Noto Sans"/>
              </a:rPr>
              <a:t>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911095"/>
            <a:ext cx="960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40" b="0" i="0">
                <a:solidFill>
                  <a:srgbClr val="94A3B8"/>
                </a:solidFill>
                <a:latin typeface="Noto Sans"/>
              </a:rPr>
              <a:t>Hardware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2377440"/>
            <a:ext cx="6784848" cy="448056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468880"/>
            <a:ext cx="413308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1" i="0">
                <a:solidFill>
                  <a:srgbClr val="F8FAFC"/>
                </a:solidFill>
                <a:latin typeface="Noto Sans"/>
              </a:rPr>
              <a:t>Wi-Fi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2450592"/>
            <a:ext cx="987552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2491740"/>
            <a:ext cx="85953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10" b="1" i="0">
                <a:solidFill>
                  <a:srgbClr val="07111F"/>
                </a:solidFill>
                <a:latin typeface="Noto Sans"/>
              </a:rPr>
              <a:t>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478024"/>
            <a:ext cx="960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40" b="0" i="0">
                <a:solidFill>
                  <a:srgbClr val="94A3B8"/>
                </a:solidFill>
                <a:latin typeface="Noto Sans"/>
              </a:rPr>
              <a:t>Hardware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2944368"/>
            <a:ext cx="6784848" cy="448056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035808"/>
            <a:ext cx="413308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1" i="0">
                <a:solidFill>
                  <a:srgbClr val="F8FAFC"/>
                </a:solidFill>
                <a:latin typeface="Noto Sans"/>
              </a:rPr>
              <a:t>Final secure v8.3.2 firmware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3017520"/>
            <a:ext cx="987552" cy="310896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7488" y="3058668"/>
            <a:ext cx="85953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10" b="1" i="0">
                <a:solidFill>
                  <a:srgbClr val="07111F"/>
                </a:solidFill>
                <a:latin typeface="Noto Sans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044951"/>
            <a:ext cx="960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40" b="0" i="0">
                <a:solidFill>
                  <a:srgbClr val="94A3B8"/>
                </a:solidFill>
                <a:latin typeface="Noto Sans"/>
              </a:rPr>
              <a:t>Static audit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3511296"/>
            <a:ext cx="6784848" cy="448056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602736"/>
            <a:ext cx="413308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1" i="0">
                <a:solidFill>
                  <a:srgbClr val="F8FAFC"/>
                </a:solidFill>
                <a:latin typeface="Noto Sans"/>
              </a:rPr>
              <a:t>ThingSpeak physical publish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3584448"/>
            <a:ext cx="987552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7488" y="3625596"/>
            <a:ext cx="85953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10" b="1" i="0">
                <a:solidFill>
                  <a:srgbClr val="07111F"/>
                </a:solidFill>
                <a:latin typeface="Noto Sans"/>
              </a:rPr>
              <a:t>PENDING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611879"/>
            <a:ext cx="960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40" b="0" i="0">
                <a:solidFill>
                  <a:srgbClr val="94A3B8"/>
                </a:solidFill>
                <a:latin typeface="Noto Sans"/>
              </a:rPr>
              <a:t>Bench 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4078224"/>
            <a:ext cx="6784848" cy="448056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169663"/>
            <a:ext cx="413308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1" i="0">
                <a:solidFill>
                  <a:srgbClr val="F8FAFC"/>
                </a:solidFill>
                <a:latin typeface="Noto Sans"/>
              </a:rPr>
              <a:t>Physical ML runtime in 2–8°C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4151376"/>
            <a:ext cx="987552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7488" y="4192524"/>
            <a:ext cx="85953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10" b="1" i="0">
                <a:solidFill>
                  <a:srgbClr val="07111F"/>
                </a:solidFill>
                <a:latin typeface="Noto Sans"/>
              </a:rPr>
              <a:t>PENDING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178808"/>
            <a:ext cx="960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40" b="0" i="0">
                <a:solidFill>
                  <a:srgbClr val="94A3B8"/>
                </a:solidFill>
                <a:latin typeface="Noto Sans"/>
              </a:rPr>
              <a:t>~50–60 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" y="4645152"/>
            <a:ext cx="6784848" cy="448056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736592"/>
            <a:ext cx="413308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1" i="0">
                <a:solidFill>
                  <a:srgbClr val="F8FAFC"/>
                </a:solidFill>
                <a:latin typeface="Noto Sans"/>
              </a:rPr>
              <a:t>GPS satellite fix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4718304"/>
            <a:ext cx="987552" cy="310896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47488" y="4759452"/>
            <a:ext cx="85953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10" b="1" i="0">
                <a:solidFill>
                  <a:srgbClr val="07111F"/>
                </a:solidFill>
                <a:latin typeface="Noto Sans"/>
              </a:rPr>
              <a:t>DEFERRED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745736"/>
            <a:ext cx="960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40" b="0" i="0">
                <a:solidFill>
                  <a:srgbClr val="94A3B8"/>
                </a:solidFill>
                <a:latin typeface="Noto Sans"/>
              </a:rPr>
              <a:t>Time-boxed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62672" y="1810512"/>
            <a:ext cx="3922776" cy="3410712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882127" y="2029968"/>
            <a:ext cx="1417320" cy="310896"/>
          </a:xfrm>
          <a:prstGeom prst="round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46136" y="2071116"/>
            <a:ext cx="1289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  <a:latin typeface="Noto Sans"/>
              </a:rPr>
              <a:t>NEXT BENCH CHECK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18704" y="2596896"/>
            <a:ext cx="2743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Noto Sans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2596896"/>
            <a:ext cx="2880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Noto Sans"/>
              </a:rPr>
              <a:t>Create ThingSpeak channel + enter credentials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18704" y="3200400"/>
            <a:ext cx="2743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Noto Sans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3200400"/>
            <a:ext cx="2880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Noto Sans"/>
              </a:rPr>
              <a:t>Upload v8.3.2 and verify a positive entry 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18704" y="3803904"/>
            <a:ext cx="2743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Noto Sans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3803904"/>
            <a:ext cx="2880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Noto Sans"/>
              </a:rPr>
              <a:t>Run in 2–8°C for ~50–60 min to observe physical ML inference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18704" y="4599432"/>
            <a:ext cx="2743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Noto Sans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4599432"/>
            <a:ext cx="288036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Noto Sans"/>
              </a:rPr>
              <a:t>Capture ml_data_quality, probability, prediction + model version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" y="5477256"/>
            <a:ext cx="6784848" cy="621792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5660136"/>
            <a:ext cx="11704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1" i="0">
                <a:solidFill>
                  <a:srgbClr val="FB7185"/>
                </a:solidFill>
                <a:latin typeface="Noto Sans"/>
              </a:rPr>
              <a:t>NOT CLAIMED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38528" y="5641848"/>
            <a:ext cx="51663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80" b="0" i="0">
                <a:solidFill>
                  <a:srgbClr val="94A3B8"/>
                </a:solidFill>
                <a:latin typeface="Noto Sans"/>
              </a:rPr>
              <a:t>Bengaluru field accuracy · battery-life measurement · remote alerts during disconnection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 i="0">
                <a:solidFill>
                  <a:srgbClr val="64748B"/>
                </a:solidFill>
                <a:latin typeface="Noto Sans"/>
              </a:rPr>
              <a:t>IMPACT INNOVATORS · SIH26215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37392" y="6446520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Noto Sans"/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355080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/>
              <a:t>v8.3.1 hardening: first-bucket guard · post-attempt cloud pacing · stream-safe LittleFS backlog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67E8F9"/>
                </a:solidFill>
                <a:latin typeface="Noto Sans"/>
              </a:rPr>
              <a:t>09 · IMPACT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Noto Sans"/>
              </a:rPr>
              <a:t>From validated software to a field-ready cold-chain 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88720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Noto Sans"/>
              </a:rPr>
              <a:t>The next step is not more complexity — it is physical validation in a controlled 2–8°C environment.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828800"/>
            <a:ext cx="5257800" cy="3273552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2039112"/>
            <a:ext cx="713232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80260"/>
            <a:ext cx="5852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07111F"/>
                </a:solidFill>
                <a:latin typeface="Noto Sans"/>
              </a:rPr>
              <a:t>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87752"/>
            <a:ext cx="10515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34D399"/>
                </a:solidFill>
                <a:latin typeface="Noto Sans"/>
              </a:rPr>
              <a:t>Healthcare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2587752"/>
            <a:ext cx="353872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Noto Sans"/>
              </a:rPr>
              <a:t>Earlier intervention before a breach; reduced exposure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291840"/>
            <a:ext cx="10515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22D3EE"/>
                </a:solidFill>
                <a:latin typeface="Noto Sans"/>
              </a:rPr>
              <a:t>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3291840"/>
            <a:ext cx="353872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Noto Sans"/>
              </a:rPr>
              <a:t>Central telemetry + local prediction + traceable backlog.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995928"/>
            <a:ext cx="10515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Noto Sans"/>
              </a:rPr>
              <a:t>Economics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3995928"/>
            <a:ext cx="353872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Noto Sans"/>
              </a:rPr>
              <a:t>Low-cost edge hardware designed for scalable fleet 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1828800"/>
            <a:ext cx="5486400" cy="3273552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0216" y="2039112"/>
            <a:ext cx="822960" cy="310896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2080260"/>
            <a:ext cx="69494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950" b="1" i="0">
                <a:solidFill>
                  <a:srgbClr val="07111F"/>
                </a:solidFill>
                <a:latin typeface="Noto Sans"/>
              </a:rPr>
              <a:t>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578608"/>
            <a:ext cx="274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9" b="1" i="0">
                <a:solidFill>
                  <a:srgbClr val="34D399"/>
                </a:solidFill>
                <a:latin typeface="Noto San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2578608"/>
            <a:ext cx="3291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80" b="1" i="0">
                <a:solidFill>
                  <a:srgbClr val="F8FAFC"/>
                </a:solidFill>
                <a:latin typeface="Noto Sans"/>
              </a:rPr>
              <a:t>Software/model holdout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04704" y="2578608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19" b="1" i="0">
                <a:solidFill>
                  <a:srgbClr val="34D399"/>
                </a:solidFill>
                <a:latin typeface="Noto Sans"/>
              </a:rPr>
              <a:t>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3063239"/>
            <a:ext cx="274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9" b="1" i="0">
                <a:solidFill>
                  <a:srgbClr val="34D399"/>
                </a:solidFill>
                <a:latin typeface="Noto San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3136" y="3063239"/>
            <a:ext cx="3291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80" b="1" i="0">
                <a:solidFill>
                  <a:srgbClr val="F8FAFC"/>
                </a:solidFill>
                <a:latin typeface="Noto Sans"/>
              </a:rPr>
              <a:t>ESP32 + SHT30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04704" y="3063239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19" b="1" i="0">
                <a:solidFill>
                  <a:srgbClr val="34D399"/>
                </a:solidFill>
                <a:latin typeface="Noto Sans"/>
              </a:rPr>
              <a:t>COMPLETE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3547872"/>
            <a:ext cx="274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9" b="1" i="0">
                <a:solidFill>
                  <a:srgbClr val="22D3EE"/>
                </a:solidFill>
                <a:latin typeface="Noto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3547872"/>
            <a:ext cx="3291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80" b="1" i="0">
                <a:solidFill>
                  <a:srgbClr val="F8FAFC"/>
                </a:solidFill>
                <a:latin typeface="Noto Sans"/>
              </a:rPr>
              <a:t>Secure ThingSpeak 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04704" y="3547872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19" b="1" i="0">
                <a:solidFill>
                  <a:srgbClr val="22D3EE"/>
                </a:solidFill>
                <a:latin typeface="Noto Sans"/>
              </a:rPr>
              <a:t>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4032504"/>
            <a:ext cx="274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9" b="1" i="0">
                <a:solidFill>
                  <a:srgbClr val="F59E0B"/>
                </a:solidFill>
                <a:latin typeface="Noto San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3136" y="4032504"/>
            <a:ext cx="3291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80" b="1" i="0">
                <a:solidFill>
                  <a:srgbClr val="F8FAFC"/>
                </a:solidFill>
                <a:latin typeface="Noto Sans"/>
              </a:rPr>
              <a:t>Physical ML runtime 2–8°C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04704" y="4032504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19" b="1" i="0">
                <a:solidFill>
                  <a:srgbClr val="F59E0B"/>
                </a:solidFill>
                <a:latin typeface="Noto Sans"/>
              </a:rPr>
              <a:t>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4517136"/>
            <a:ext cx="274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69" b="1" i="0">
                <a:solidFill>
                  <a:srgbClr val="94A3B8"/>
                </a:solidFill>
                <a:latin typeface="Noto San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3136" y="4517136"/>
            <a:ext cx="3291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80" b="1" i="0">
                <a:solidFill>
                  <a:srgbClr val="F8FAFC"/>
                </a:solidFill>
                <a:latin typeface="Noto Sans"/>
              </a:rPr>
              <a:t>Field thermal validation + GPS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04704" y="4517136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19" b="1" i="0">
                <a:solidFill>
                  <a:srgbClr val="94A3B8"/>
                </a:solidFill>
                <a:latin typeface="Noto Sans"/>
              </a:rPr>
              <a:t>LATER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" y="5385816"/>
            <a:ext cx="10972800" cy="667512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2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504688"/>
            <a:ext cx="7086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350" b="1" i="0">
                <a:solidFill>
                  <a:srgbClr val="F8FAFC"/>
                </a:solidFill>
                <a:latin typeface="Noto Sans"/>
              </a:rPr>
              <a:t>SENSE  →  ANALYZE  →  PREDICT  →  BUFFER  →  SYNC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5522976"/>
            <a:ext cx="28163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10" b="1" i="0">
                <a:solidFill>
                  <a:srgbClr val="67E8F9"/>
                </a:solidFill>
                <a:latin typeface="Noto Sans"/>
              </a:rPr>
              <a:t>EDGE-AI COLD CHAIN MONITOR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6281928"/>
            <a:ext cx="109545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780" b="0" i="0">
                <a:solidFill>
                  <a:srgbClr val="64748B"/>
                </a:solidFill>
                <a:latin typeface="Noto Sans"/>
              </a:rPr>
              <a:t>Sources: final v8.3.2 firmware · frozen ML holdout evidence · SIH execution status · ThingSpeak secure setup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19" b="1" i="0">
                <a:solidFill>
                  <a:srgbClr val="64748B"/>
                </a:solidFill>
                <a:latin typeface="Noto Sans"/>
              </a:rPr>
              <a:t>IMPACT INNOVATORS · SIH26215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37392" y="6446520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Noto San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